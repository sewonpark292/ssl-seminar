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2" r:id="rId1"/>
  </p:sldMasterIdLst>
  <p:notesMasterIdLst>
    <p:notesMasterId r:id="rId44"/>
  </p:notesMasterIdLst>
  <p:sldIdLst>
    <p:sldId id="256" r:id="rId2"/>
    <p:sldId id="457" r:id="rId3"/>
    <p:sldId id="456" r:id="rId4"/>
    <p:sldId id="458" r:id="rId5"/>
    <p:sldId id="459" r:id="rId6"/>
    <p:sldId id="461" r:id="rId7"/>
    <p:sldId id="460" r:id="rId8"/>
    <p:sldId id="453" r:id="rId9"/>
    <p:sldId id="455" r:id="rId10"/>
    <p:sldId id="471" r:id="rId11"/>
    <p:sldId id="463" r:id="rId12"/>
    <p:sldId id="462" r:id="rId13"/>
    <p:sldId id="470" r:id="rId14"/>
    <p:sldId id="464" r:id="rId15"/>
    <p:sldId id="465" r:id="rId16"/>
    <p:sldId id="466" r:id="rId17"/>
    <p:sldId id="467" r:id="rId18"/>
    <p:sldId id="468" r:id="rId19"/>
    <p:sldId id="469" r:id="rId20"/>
    <p:sldId id="472" r:id="rId21"/>
    <p:sldId id="454" r:id="rId22"/>
    <p:sldId id="474" r:id="rId23"/>
    <p:sldId id="475" r:id="rId24"/>
    <p:sldId id="473" r:id="rId25"/>
    <p:sldId id="436" r:id="rId26"/>
    <p:sldId id="438" r:id="rId27"/>
    <p:sldId id="439" r:id="rId28"/>
    <p:sldId id="437" r:id="rId29"/>
    <p:sldId id="452" r:id="rId30"/>
    <p:sldId id="435" r:id="rId31"/>
    <p:sldId id="442" r:id="rId32"/>
    <p:sldId id="440" r:id="rId33"/>
    <p:sldId id="444" r:id="rId34"/>
    <p:sldId id="445" r:id="rId35"/>
    <p:sldId id="443" r:id="rId36"/>
    <p:sldId id="441" r:id="rId37"/>
    <p:sldId id="446" r:id="rId38"/>
    <p:sldId id="447" r:id="rId39"/>
    <p:sldId id="448" r:id="rId40"/>
    <p:sldId id="450" r:id="rId41"/>
    <p:sldId id="451" r:id="rId42"/>
    <p:sldId id="287" r:id="rId43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45"/>
      <p:bold r:id="rId46"/>
      <p:italic r:id="rId47"/>
      <p:boldItalic r:id="rId48"/>
    </p:embeddedFont>
    <p:embeddedFont>
      <p:font typeface="Montserrat Medium" panose="00000600000000000000" pitchFamily="2" charset="0"/>
      <p:regular r:id="rId49"/>
      <p:bold r:id="rId50"/>
      <p:italic r:id="rId51"/>
      <p:boldItalic r:id="rId52"/>
    </p:embeddedFont>
    <p:embeddedFont>
      <p:font typeface="맑은 고딕" panose="020B0503020000020004" pitchFamily="50" charset="-127"/>
      <p:regular r:id="rId53"/>
      <p:bold r:id="rId54"/>
    </p:embeddedFont>
    <p:embeddedFont>
      <p:font typeface="페이퍼로지 1 Thin" pitchFamily="2" charset="-127"/>
      <p:regular r:id="rId55"/>
    </p:embeddedFont>
    <p:embeddedFont>
      <p:font typeface="페이퍼로지 2 ExtraLight" pitchFamily="2" charset="-127"/>
      <p:regular r:id="rId56"/>
    </p:embeddedFont>
    <p:embeddedFont>
      <p:font typeface="페이퍼로지 4 Regular" pitchFamily="2" charset="-127"/>
      <p:regular r:id="rId57"/>
    </p:embeddedFont>
    <p:embeddedFont>
      <p:font typeface="페이퍼로지 6 SemiBold" pitchFamily="2" charset="-127"/>
      <p:bold r:id="rId5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기본 구역" id="{E7DCC256-4942-4A3A-BC96-E5B114D737C5}">
          <p14:sldIdLst>
            <p14:sldId id="256"/>
            <p14:sldId id="457"/>
            <p14:sldId id="456"/>
            <p14:sldId id="458"/>
            <p14:sldId id="459"/>
            <p14:sldId id="461"/>
            <p14:sldId id="460"/>
            <p14:sldId id="453"/>
            <p14:sldId id="455"/>
            <p14:sldId id="471"/>
            <p14:sldId id="463"/>
            <p14:sldId id="462"/>
            <p14:sldId id="470"/>
            <p14:sldId id="464"/>
            <p14:sldId id="465"/>
            <p14:sldId id="466"/>
            <p14:sldId id="467"/>
            <p14:sldId id="468"/>
            <p14:sldId id="469"/>
            <p14:sldId id="472"/>
            <p14:sldId id="454"/>
            <p14:sldId id="474"/>
            <p14:sldId id="475"/>
            <p14:sldId id="473"/>
            <p14:sldId id="436"/>
            <p14:sldId id="438"/>
            <p14:sldId id="439"/>
            <p14:sldId id="437"/>
            <p14:sldId id="452"/>
            <p14:sldId id="435"/>
            <p14:sldId id="442"/>
            <p14:sldId id="440"/>
            <p14:sldId id="444"/>
            <p14:sldId id="445"/>
            <p14:sldId id="443"/>
            <p14:sldId id="441"/>
            <p14:sldId id="446"/>
            <p14:sldId id="447"/>
            <p14:sldId id="448"/>
            <p14:sldId id="450"/>
            <p14:sldId id="451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2"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7F7F"/>
    <a:srgbClr val="F79709"/>
    <a:srgbClr val="ECAE14"/>
    <a:srgbClr val="B8A848"/>
    <a:srgbClr val="9933FF"/>
    <a:srgbClr val="B07202"/>
    <a:srgbClr val="8F981A"/>
    <a:srgbClr val="009900"/>
    <a:srgbClr val="FFFFFF"/>
    <a:srgbClr val="8DB6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8D96753-9D45-4FE6-9178-F3E63956B4D6}">
  <a:tblStyle styleId="{08D96753-9D45-4FE6-9178-F3E63956B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34" autoAdjust="0"/>
    <p:restoredTop sz="94660"/>
  </p:normalViewPr>
  <p:slideViewPr>
    <p:cSldViewPr snapToGrid="0">
      <p:cViewPr varScale="1">
        <p:scale>
          <a:sx n="67" d="100"/>
          <a:sy n="67" d="100"/>
        </p:scale>
        <p:origin x="62" y="7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55" Type="http://schemas.openxmlformats.org/officeDocument/2006/relationships/font" Target="fonts/font1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schemas.openxmlformats.org/officeDocument/2006/relationships/font" Target="fonts/font9.fntdata"/><Relationship Id="rId58" Type="http://schemas.openxmlformats.org/officeDocument/2006/relationships/font" Target="fonts/font14.fntdata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4.fntdata"/><Relationship Id="rId56" Type="http://schemas.openxmlformats.org/officeDocument/2006/relationships/font" Target="fonts/font12.fntdata"/><Relationship Id="rId8" Type="http://schemas.openxmlformats.org/officeDocument/2006/relationships/slide" Target="slides/slide7.xml"/><Relationship Id="rId51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0.fntdata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Relationship Id="rId57" Type="http://schemas.openxmlformats.org/officeDocument/2006/relationships/font" Target="fonts/font13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8.fntdata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페이퍼로지 4 Regular" pitchFamily="2" charset="-127"/>
        <a:ea typeface="페이퍼로지 4 Regular" pitchFamily="2" charset="-127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71cdfcaf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71cdfcaf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724ACD0-26D9-602D-C8E5-5743F687E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AAAA1C3-2FE8-8943-AC4F-7606585C33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47FFBBB-4E63-7BB4-187E-C2560C7B65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9153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94FBF6E-C6AB-5A95-816B-55361000A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12F56E1-0AFB-5467-9885-9CC328F2B4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26A1137-186B-7CA3-A21E-A517C9FDF8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18029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9F65E2C-D666-A39F-7E94-272152855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EA0B90F-ECB0-52F0-2F5A-0D0733F1F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FB2DFC1-6FBF-633A-A3E4-2D1F9C3ED6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8470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C6043E0-0080-7A79-3112-88B9CC42A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8A62A18-154F-DB37-DCB3-4314AB63E0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769F5D3-AE5B-227F-E545-5B9642D2EC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42066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2E64E0F-3489-1A83-94D4-804CE2568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37F9DA6-5BA4-A035-4C8A-76557EC345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DA6DC91-5FD5-09D5-5FBD-8281818A72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45876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22AA7FA-908D-0BAD-2912-4B528DF13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E591210-76D0-808C-0C76-AD2E77B988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422D62D-009D-80C7-C6B7-0DE2B7F2B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6929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7A255F1-2CE2-6E6B-3457-1EF9C47E4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324AEA8-F4F3-3EE7-91FD-CC69A05407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09F110A-A5EB-EA38-926E-7B8360AC0B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05975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903F7A1-1639-E71E-0E51-CE6E5D54D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95E3167-6D03-EB14-188E-F368E1C1CE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58DCB8B-0AF6-1B4A-1353-6C7DD8E819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14806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FE12DFF-419B-6754-566C-53B03380F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38CD577-79C5-56D5-F86E-43D13CA8A0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7C380AB-BE29-65B4-29AA-B931C9A54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https://learn.microsoft.com/ko-kr/cpp/atl/iunknown?view=msvc-170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575688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4A73360-B698-A291-D2D0-A025769E9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8F82CD3-35B4-9538-BEA8-F38086A957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1CED826-DDE1-2E22-4FD5-20116BFDE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9856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79BE4227-1AF3-4F20-F7FF-B50E33D77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5BDD3B7-5B1F-AE3D-1476-A0BABE2678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596C1AC-C996-8BCF-DB81-2ADE4E5E3A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win+R &gt; services.msc &gt; find_Google Chrome Elevation Service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651129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B43F366-F698-23F3-E55F-37FB16F58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6E91310-6FDC-D757-66AD-E86E88FC12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D8B2AD1-1AA4-3368-B1B0-191E5A0128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win+R &gt; services.msc &gt; find_Google Chrome Elevation Service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HKEY_LOCAL_MACHINE\SYSTEM\CurrentControlSet\Services\GoogleChromeElevationService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02121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FDA6735-7D62-7C59-30E6-92CC10B82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88C32E6-940F-CA01-22FE-3432A9993C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8DB1D34-B6E1-E0FC-9421-761BC2AEA0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/>
              <a:t>about. </a:t>
            </a:r>
            <a:r>
              <a:rPr lang="ko-KR" altLang="en-US"/>
              <a:t>값이 어차피 같다</a:t>
            </a:r>
            <a:r>
              <a:rPr lang="en-US" altLang="ko-KR"/>
              <a:t>..??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/>
              <a:t>&gt; </a:t>
            </a:r>
            <a:r>
              <a:rPr lang="ko-KR" altLang="en-US"/>
              <a:t>어차피 </a:t>
            </a:r>
            <a:r>
              <a:rPr lang="en-US" altLang="ko-KR"/>
              <a:t>TypeLib</a:t>
            </a:r>
            <a:r>
              <a:rPr lang="ko-KR" altLang="en-US"/>
              <a:t> </a:t>
            </a:r>
            <a:r>
              <a:rPr lang="en-US" altLang="ko-KR"/>
              <a:t>GUID</a:t>
            </a:r>
            <a:r>
              <a:rPr lang="ko-KR" altLang="en-US"/>
              <a:t>를 따라가보면 </a:t>
            </a:r>
            <a:r>
              <a:rPr lang="en-US" altLang="ko-KR"/>
              <a:t>elevation_service.exe</a:t>
            </a:r>
            <a:r>
              <a:rPr lang="ko-KR" altLang="en-US"/>
              <a:t>를 가리키고 있음은 동일함</a:t>
            </a:r>
            <a:r>
              <a:rPr lang="en-US" altLang="ko-KR"/>
              <a:t>. (For compatibility)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4654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B02CB9B-FC49-D70C-234E-16CCF4A95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5D875D4-F2A9-4ED8-6081-1405480A58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4644AA2-C32C-F356-777C-5E793BF975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74774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87EDAEDB-A214-CA0D-8B84-756B1D261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8FDF0B4-DEA6-FAE6-AF61-A64AAA00B1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B1588F-BCF3-3F4C-ED76-DEECBABC22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46692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B1608E5-8362-3D9F-FFCD-1965C41BE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628910E-E00D-1C31-EBF6-0C516A9FF4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838CFDA-0E9D-BF3A-0885-6E00A3AF0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20205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0FDF39E-BCF2-8F26-C084-39928C8BF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496223F-99B9-3CF7-ECDF-3E6D3B81A3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74359C3E-6156-9C9E-F840-3EC05E1881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20389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895B7B37-2BC3-DA9B-0E59-8B43E5C2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272A368-9C9A-BBFE-6834-70928F776C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F58B166-8E32-2C96-A051-388369C700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3152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DC7EB66-D384-997A-6DCF-6A1EBFC64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1C9E6D65-57BA-735F-06C0-729B4DC4CD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36A79CF-1CB9-AA50-1D3A-DE9E38CCEA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https://learn.microsoft.com/ko-kr/windows/win32/api/_automat/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536189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757F540B-F41D-0886-6A4E-F0C50DA51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2468BF8-DB01-79EA-F7EF-A126829BE0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49F67DC-B4E7-586B-8774-B2A73BAA3D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combase.dll </a:t>
            </a:r>
            <a:r>
              <a:rPr lang="en-US">
                <a:sym typeface="Wingdings" panose="05000000000000000000" pitchFamily="2" charset="2"/>
              </a:rPr>
              <a:t> </a:t>
            </a:r>
            <a:r>
              <a:rPr lang="en-US"/>
              <a:t>https://learn.microsoft.com/ko-kr/windows/win32/api/combaseapi/nf-combaseapi-dllgetclassobject</a:t>
            </a:r>
            <a:br>
              <a:rPr lang="en-US"/>
            </a:br>
            <a:r>
              <a:rPr lang="en-US"/>
              <a:t>oleaut32.dll </a:t>
            </a:r>
            <a:r>
              <a:rPr lang="en-US">
                <a:sym typeface="Wingdings" panose="05000000000000000000" pitchFamily="2" charset="2"/>
              </a:rPr>
              <a:t> </a:t>
            </a:r>
            <a:r>
              <a:rPr lang="en-US"/>
              <a:t>https://learn.microsoft.com/ko-kr/windows/win32/api/oleauto/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870095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60D5B81-C7CB-29A9-6B4E-0DA5476A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2B617AD-FD66-1A73-893B-F841C7306B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C290A5A-AFCB-B84F-049C-4918DDC81A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25215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D06CADD6-4590-EFD5-3EFD-8337151DF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8D02188A-E27E-344B-2F1D-A452A5E623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8DC7A7E-4C18-318E-0E77-BCBF19F318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78617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DD427DC-62D9-1FE0-EF6F-040117797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18BF9AE4-D031-5AD2-6ED0-000E1F9561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BB2152A-E493-D7BC-C0BA-DDEDB1262C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92688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A867121F-54FE-F8C3-1711-628FCC371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43D9F35-A015-1386-AB10-90AFF8F879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B03D8B0-484D-5C56-CED1-AB7A4EB3AD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94571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EEE31F7-32B4-03AC-AC8D-1E022366D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767F62C4-8C78-1485-6C70-53408CE34D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76EF585B-A36A-2D7A-FBA5-2F438D1629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996054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2E64FBA-7EAC-BA3D-128C-B11C4D3F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8C8EAD62-BD72-3094-39B6-6568D4168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E29A605B-67F9-797E-4740-C02F07F726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253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9ED8B25-6A05-C1E4-CDFC-E0AD41487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DB80F34-CF8E-F98E-16FF-A1436A3D10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18B05EF-F27B-9F3A-DF13-B618E1DF2E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19115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2C3A5EB9-C566-CAC3-47B4-5143C63E6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2C3CC1D-C082-1295-1B3F-BDDE01EE38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EB6345D4-2EC5-6DB3-2699-06D385FB0A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79134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5880F93-9E55-049A-7D41-0E90479E8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BA70776-2782-08B8-7DB2-5A169254B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8617F90-361A-E317-9A8B-B87FC42CD7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566518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10D0B44-41C0-4234-1C87-7CD365370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08C3C7D-8C37-0660-9AF3-5F06CEEFB5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D183FBDD-912D-B3E7-52EC-DE37EBBA8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59583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9143256-E40C-3BF7-4D02-EFF43B15B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44062D9-B15B-EF77-4C0E-DC52814B9A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504975E-D4CA-95BC-B359-8BF4EAF364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8334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00A024E-D651-3591-81D4-924FE72EC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80A0C8C-7584-1E60-83DE-FD1B25F38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DCCD79F-7C7B-F97E-99F9-A01D541CCB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https://learn.microsoft.com/ko-kr/windows/win32/api/oleauto/nf-oleauto-loadtypelib &lt;-- LoadTypeLib</a:t>
            </a:r>
            <a:r>
              <a:rPr lang="en-US" altLang="ko-KR"/>
              <a:t> </a:t>
            </a:r>
            <a:r>
              <a:rPr lang="ko-KR" altLang="en-US"/>
              <a:t>함수 정의</a:t>
            </a:r>
            <a:r>
              <a:rPr lang="en-US" altLang="ko-KR"/>
              <a:t>(oleauto.h)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https://learn.microsoft.com/ko-kr/windows/win32/api/oaidl/nn-oaidl-itypelib &lt;-- ITypeLib</a:t>
            </a:r>
            <a:r>
              <a:rPr lang="ko-KR" altLang="en-US"/>
              <a:t> </a:t>
            </a:r>
            <a:r>
              <a:rPr lang="en-US" altLang="ko-KR"/>
              <a:t>Interface(oaidl.h) + ITypeLib Interface </a:t>
            </a:r>
            <a:r>
              <a:rPr lang="ko-KR" altLang="en-US"/>
              <a:t>는 </a:t>
            </a:r>
            <a:r>
              <a:rPr lang="en-US" altLang="ko-KR"/>
              <a:t>Iunknow </a:t>
            </a:r>
            <a:r>
              <a:rPr lang="ko-KR" altLang="en-US"/>
              <a:t>인터페이스에서 상속된다</a:t>
            </a:r>
            <a:r>
              <a:rPr lang="en-US" altLang="ko-KR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8832218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87E13DD-C849-47B1-64B0-535BF0FD3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6D7A1D6-9315-F94B-894D-DD40D6A7B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5C36B2E0-8780-9DDF-E516-4E14A90803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964006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DE235FB2-B503-3348-A62A-8D3CD36C3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B4D60A0-1EFD-DFAA-489F-E1522BF754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21B0C80-4695-D7E0-B348-78430CE4F4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436361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369275B-FC75-1DE5-5204-7EC8EE1A6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D7A092D-D452-F975-77C8-28D2985A9E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D1A155C-3AE4-499F-9C22-ACA1F99A36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414747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C3C9D7-E5A0-4594-4DF8-A54AD1AA9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4225E6B-917C-DFED-AECB-6C83A376D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850610A-56F8-2FA4-2172-553DE5DBA6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34994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E9A3542-885F-1150-529B-9C7DB7F33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15152A7-5029-4041-2128-20D3B656AA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6474FC9-9AEF-CDFA-4B36-A5A039ED2A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31495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36841DED-72E7-4BF8-61FF-2997B871F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ADB1BD6-B4AF-EC90-ED80-FBF342D350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148740D-92B3-BB2E-6AC2-AC6BB50E82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6324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2494B69-69AB-CD76-D855-5A88D9BB8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FF9F3539-232C-73D9-02B1-EC8268FEA1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F30730C-763B-BE8F-BCE0-0B8DBF1947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78135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0C4E41A-0E37-DBA5-A562-752CFCFA2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5903A58-1C14-A464-C433-5035989BA0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9203F2B4-624C-0D81-25FF-8A774E4EB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67497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D5B4AF7-37E0-5F83-6021-28CF4BB9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CF39356-3DE2-1E00-621B-06C8AF3E0A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62E4C3C-86C2-BB6A-8AEA-563CF64F02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3667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5775" y="1577992"/>
            <a:ext cx="4487400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5775" y="3135908"/>
            <a:ext cx="4487400" cy="4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2179625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2996550" y="1337825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391925" y="3132175"/>
            <a:ext cx="4360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accent6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3322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title"/>
          </p:nvPr>
        </p:nvSpPr>
        <p:spPr>
          <a:xfrm>
            <a:off x="720000" y="36742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2241550" y="134875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>
            <a:spLocks noGrp="1"/>
          </p:cNvSpPr>
          <p:nvPr>
            <p:ph type="subTitle" idx="1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빈 화면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TITLE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맑은 고딕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4" name="Google Shape;4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5" name="Google Shape;4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096600"/>
            <a:ext cx="7713600" cy="35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페이퍼로지 6 SemiBold" pitchFamily="2" charset="-127"/>
          <a:ea typeface="페이퍼로지 6 SemiBold" pitchFamily="2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>
            <a:spLocks noGrp="1"/>
          </p:cNvSpPr>
          <p:nvPr>
            <p:ph type="ctrTitle"/>
          </p:nvPr>
        </p:nvSpPr>
        <p:spPr>
          <a:xfrm>
            <a:off x="737884" y="1792800"/>
            <a:ext cx="7668232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latin typeface="페이퍼로지 6 SemiBold" pitchFamily="2" charset="-127"/>
                <a:ea typeface="페이퍼로지 6 SemiBold" pitchFamily="2" charset="-127"/>
              </a:rPr>
              <a:t>COMrade_ABE Analysis</a:t>
            </a:r>
            <a:endParaRPr sz="2800">
              <a:latin typeface="페이퍼로지 6 SemiBold" pitchFamily="2" charset="-127"/>
              <a:ea typeface="페이퍼로지 6 SemiBold" pitchFamily="2" charset="-127"/>
            </a:endParaRPr>
          </a:p>
        </p:txBody>
      </p:sp>
      <p:grpSp>
        <p:nvGrpSpPr>
          <p:cNvPr id="67" name="Google Shape;67;p17"/>
          <p:cNvGrpSpPr/>
          <p:nvPr/>
        </p:nvGrpSpPr>
        <p:grpSpPr>
          <a:xfrm>
            <a:off x="6663079" y="991363"/>
            <a:ext cx="353630" cy="378892"/>
            <a:chOff x="4149138" y="4121151"/>
            <a:chExt cx="344065" cy="368644"/>
          </a:xfrm>
        </p:grpSpPr>
        <p:sp>
          <p:nvSpPr>
            <p:cNvPr id="68" name="Google Shape;68;p17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69" name="Google Shape;69;p17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0" name="Google Shape;70;p17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1" name="Google Shape;71;p17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2" name="Google Shape;72;p17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3" name="Google Shape;73;p17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4" name="Google Shape;74;p17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5" name="Google Shape;75;p17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6" name="Google Shape;76;p17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7" name="Google Shape;77;p17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8" name="Google Shape;78;p17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9" name="Google Shape;79;p17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49B52D-4AC4-D039-D3E5-FB82F8CEF825}"/>
              </a:ext>
            </a:extLst>
          </p:cNvPr>
          <p:cNvSpPr txBox="1"/>
          <p:nvPr/>
        </p:nvSpPr>
        <p:spPr>
          <a:xfrm>
            <a:off x="7326092" y="4681835"/>
            <a:ext cx="1817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20200451 </a:t>
            </a:r>
          </a:p>
          <a:p>
            <a:pPr algn="r"/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박세원</a:t>
            </a:r>
            <a:endParaRPr lang="en-US" altLang="ko-KR" sz="800">
              <a:latin typeface="페이퍼로지 1 Thin" pitchFamily="2" charset="-127"/>
              <a:ea typeface="페이퍼로지 1 Thin" pitchFamily="2" charset="-127"/>
            </a:endParaRPr>
          </a:p>
          <a:p>
            <a:pPr algn="r"/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System Software Lab</a:t>
            </a:r>
            <a:r>
              <a:rPr lang="en-US" altLang="ko-KR" sz="80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5AF286A-D40E-7C64-131F-9C53F976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681EF65-A0E9-CB4A-26F7-C49CC388C31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4655F97-9F92-2CF6-C15A-6815030698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A5B2225-E967-29DA-1D04-4BC98A57D46B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1467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DB89538-490D-CA20-AF91-06DE4E846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05AE7802-6A0C-F0BA-1589-D162B191225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설계도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, AppID: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공장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환경 및 보안 설정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CSLID: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생성할 것인가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정의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주요 값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InprocServer32: 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로드 방식일 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경로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 LocalServer32: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방식일 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경로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 ProgID: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사람이 읽기 쉬운 이름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Chrome.ElevationService) / AppID(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): “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객체의 실행 권한이나 보안 설정은 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가서 확인해라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 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포인터 역할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하나의 실행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이나 서비스 안에 들어있는 여러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묶어서 공통된 실행 방식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네트워크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(DCOM)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설정을 관리한다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주요 값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LocalService: “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앱은 직접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실행하지 말고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서비스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(GoogleChromeElevationService)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실행해라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.” / RunAs: “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앱을 실행할 때 어떤 계정으로 실행할까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?(SYSTEM, USER…) / AccessPermission, LaunchPermission: “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누가 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실행하고 접근할 수 있는가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[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보통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ACL/SDDL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바이너리 값으로 저장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]) / DllSurrogate: 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이지만 다른 독립된 프로세스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(dllhost.exe)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얹어서 실행하라는 지시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CLSID==AppID?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권한을 명시해둔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서로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같은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참조하는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N:1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매치가 있을 수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동일한 값을 공유한다는 것은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1:1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매치를 의미하고 독립적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엄격한 권한 관리가 필요한 것을 의미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그런데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적혀있고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존재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일반적으로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LocalServer32(Path to EXE)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있는데 없어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&gt;&gt;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시스템에게 맡기는게 아니라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 서비스 제어 관리자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(services.msc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관리하는 시스템인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**SCM(Service Control Manager)**)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이름으로 등록된 서비스를 깨우라고 지시하는 동작을 수행하게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&gt;&gt;&gt;&gt;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초기 설치 단계에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 목록에 영구 등록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(Services.msc)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2: 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별값이 없는 이유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그냥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로직에서 모든 검증 직접 해버림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services.msc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조회 시 종속성이 있음을 확인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[ RPCSS ]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종속성이 있다는 것은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COM/RPC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흐름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mojo ipc? : RPC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OS-Proc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간의 통신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client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-&gt;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생성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-&gt; proxy: marshaling(oleaut32.dll) -&gt; rpcss.exe -&gt; stub: unmarshaling(oleaut32.dll) -&gt;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mojo ipc: only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communication (e.g: renderer, browser, gpu, network…)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5C469AE-4F3D-1C1B-5D85-7F36DDC75D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ko-KR" altLang="en-US"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발표 자료 작성 중 개념 정리</a:t>
            </a:r>
            <a:br>
              <a:rPr lang="en-US" altLang="ko-KR"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0D0E08E-5F5C-B3E2-6CD1-208DAF7F3ED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FFEC64B-68BB-26A8-4337-61121A3FBA2A}"/>
              </a:ext>
            </a:extLst>
          </p:cNvPr>
          <p:cNvSpPr txBox="1"/>
          <p:nvPr/>
        </p:nvSpPr>
        <p:spPr>
          <a:xfrm>
            <a:off x="452550" y="4914760"/>
            <a:ext cx="47608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SCM: Win OS one of core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 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components “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백그라운드 서비스 총괄 매니저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”</a:t>
            </a:r>
            <a:endParaRPr lang="ko-KR" altLang="en-US" sz="800">
              <a:latin typeface="페이퍼로지 1 Thin" pitchFamily="2" charset="-127"/>
              <a:ea typeface="페이퍼로지 1 Thin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C144BF6-D82B-2825-B91D-5DC9A0332E0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85" t="7445" r="2712" b="7496"/>
          <a:stretch>
            <a:fillRect/>
          </a:stretch>
        </p:blipFill>
        <p:spPr>
          <a:xfrm>
            <a:off x="4507454" y="100167"/>
            <a:ext cx="3730700" cy="1164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72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60FFB80-8364-34F0-48C8-0ED60E32A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216E4D2D-C5FB-E3FD-0266-F25EA81FF3F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어떻게 동작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py, elevation_service, dpapi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py &gt; win32com.client.Dispatch(“Chrome.ElevationService”)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1-1. CoCreateInstance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param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CSLID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들어가야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ole32.dll ! CoCreateInstance(…):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서브시스템 진입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레지스트리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AppID(LocalService)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**CoCreateInstance: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지정된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연결된 클래스의 단일 개체를 만들고 기본값 초기화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combase.dll ! CClassCache::GetClassObject(…): SCM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켜줘 요청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통신망 준비 완료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4. ole32.dll ! IUnknown_QueryInterface_Proxy(…): IElevator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가능하냐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질의 후 응답 확인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5. py &gt; elevator.DecryptData(encrypted_blob)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6. oleaut32.dll ! DispCallFunc(…)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또는 커스텀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 DLL: 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수행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바이트 배열을 네트워크 패킷 형태로 포장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7. rpcrt4.dll ! NdrClientCall3(…):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클라이언트 함수 호출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ALPC(Adv Local Procedure Call)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포트로 던짐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===Windowns Kernel(ALPC)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및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통한 컨텍스트 스위칭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8. rpcrt4.dll ! NdrServerCall2(…): RPCSS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Kernel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데이터를 받고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elevation_service.exe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thread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깨움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9. oleaut32.dll ! _Stub(…)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또는 커스텀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 DLL: Unmarshaling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단계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패킷을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바이트 배열로 조립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10. elevation_service.exe ! elevation_service::Elevator::DecryptData(…):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NTAUTHORITY\SYSTEM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11. elevation_service.exe ! elevation_service::CallerValidation::Verify(…): chrome.exe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검증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===DPAPI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(OS Level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 모듈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12. elevation_service.exe ! chrome::DecryptStringWithAppBoundProvider(…): ABE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관련 처리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13. crypt32.dll ! CryptUnprotectData(…): DPAPI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 해제 함수 호출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(SYSTEM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계정 확인 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 Master Key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이용해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blob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14. elevation_service.exe ! elevation_service::Elevator::DecryptData [RETURN]: plaintext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받고 반환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15. oleaut32.dll ! _Stub [RETURN Marshaling]: plaintext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다시 포장해서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클라이언트에게 돌려보냄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다시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ALPC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타고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User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 복귀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16. rpcrt.dll ! NdrClientCall3 [RETURN]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17. oleaut32.dll ! DispCallFunc [Return Unmarshaling]: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응답받은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plaintext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파이썬이 읽을 수 있는 문자열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바이트 객체로 변환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18. py &gt; decrypted_key = elevator.DecryptData(…): AES-256 Key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ㅋㅋ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570D46B-2E8F-6A6C-7BA8-63E80A9B75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E76DBB4-718E-2D60-8C4C-21A23611336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7364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50F8CE7-AA52-AF11-49D3-DF570EC20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2C4FC903-4A82-0E84-BDA4-B7B935A692D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 함수 정리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__init__: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분석에 필요한 초기 경로 초기화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(executable_path, type_lib, discovered_clsid, browser_key, target_methods[EncryptData, DecryptData], proxy_stub_cache: Dict{str, Info], coclasses: list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find_service_details(self, browser_key): HKLM\SYSTEM\CurrentControlSet\Services\{candidates}.ImagePath: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 exec path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en-US" altLang="ko-KR" sz="1000" b="1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RETURNED FROM _find_clsid_for_service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 CLSID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_find_clsid_for_service(self, service_name): HKLM\Classes\AppID.value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Get executable_path from CLSID but, not exists in Chrome..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Find CLSID via AppID LocalService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discover_elevation_services(self): Discover all elevation services on the system (search for strpattern(e.g: brave)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get_service_runtime_status(self, service_name):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서비스가 실행 중인지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중지됐는지 상태 확인 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analyze_service_security(self, service_name): DACL/SDDL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분석해 보안 권한 정도 파악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(elevation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service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===TypeLib Search===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search_typelibs_by_pattern(self, pattern): HKCR\TypeLib{tl_id}\{version}\HELPDIR(TypeLib)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Find TypeLib Path &gt; HKCR\TypeLib\{tl_id}\version\{lcid}\win32, win64.value **lcid**: Just index like array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===COM Analysis===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analyze_com_security(self, clsid): HKCR\AppID{app_id}.RunAS, DllSurogate, LocalService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 해서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필요한 정보 조합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Read Security Descriptors &gt; HKCR\AppID\{app_id}.LaunchPermission, AccessPermission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보안 상태 분석 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analyze_proxy_stub(self, iid): HKCR\{Interface\\{iid}\{ProxyStubClsid32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조회해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proxy_stub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저장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++ &gt;&gt; proxy_stub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존재할 수 있으므로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…\{iid}\TypeLib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도 조회 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oleautomation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**oleautomation**? &gt;&gt;&gt;&gt; oleaut32.dll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참조해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Marshaling, Unmarshaling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수행할 수 있음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편하다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.)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기본 값을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custom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으로 설정하고 탐색하는데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있으면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WinOS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무조건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oleaut32.dll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수행함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marshaling_typeoleautomation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으로 정보 저장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++ marshaling_type = “broken” 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업데이트로 인해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broken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으로 바뀔 수 있음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유효하지 않은 값임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not registered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이면 유효하지 않은 것이고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custom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이면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PE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main_signer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필드 값을 같이 저장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뭔가 하나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?)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analyze_pe_typelib(self): PE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정적 분석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&gt;&gt;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적용 보안 기법 같이 저장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영역에서 조회 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개수 저장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같은걸 저장안함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알아야 할거 아니야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&gt;&gt;&gt;&gt; .exe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로드되면 알아서 로드함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i.e.) exec path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있으면 해당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Win32API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이용해서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LocadTypeLibEx(exec_path)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함수를 실행하면 걍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로드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매핑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됨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07EEB98-660E-AD8E-8974-C4CF55445D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013BDB7-7DAE-80FF-9511-8BBC6E9D317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682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B95260F-4E53-011C-B50A-480C79E7F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F22AB95A-2572-C744-4FFA-ED5568F5988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analyze_coclasses: 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*&gt;&gt;*TKIND_COCLASS**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 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특정 항목의 종류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 Kind)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나타내는 상수를 이용해 실제 생성 가능한 객체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(IElevator)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CoClass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name, CLSID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획득 및 필요한 정보 추출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(LocalServer32 path, InprocServer32 path)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Loading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&amp;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Analysis===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load_type_library(self): exec_path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Win32API ! LoadTypeLibEx(exec_path)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get_inheritance_chain(self, TypeLibInfo):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상속 구조를 쫓아가면서 함수와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 이름을 저장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analyze_interface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DecryptData, EncryptData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 존재 여부 판별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check_method_signature(self, method_name, fd, ti): Didn’t used anymore in this script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 main analysis entry point 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_step_discover(self, scan_mode, browser_key, user_clsid):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C6A78D7-C9C5-83E6-62E4-FC43EA60D8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6B59D2D-3C7D-6BAC-5AF9-67AA52E941A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27373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B341BD4-68A4-38B5-06C8-80289F8FA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F8F1D2BF-D267-AE68-D07B-8704BACDE367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5996902-7F9A-3CF2-A009-3A5F37C3C8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Section done.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A4F3E98-E18C-1F8D-75A8-EB78CEB9A6C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8008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2782511-F14D-0E28-058C-7EB869752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37409086-961E-6358-B5FB-AD8C896BA2A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7BA63CD-6AA4-75C0-E5FC-B3906542EA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2B46D1D-7462-162A-3778-D6D79CA8F0EB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514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E131D3CD-E519-1060-511F-1FBB15D69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1B7811C-0C70-B654-34CA-E84BD1ACDF2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COM:  Component Object Model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rgbClr val="00B0F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               " </a:t>
            </a:r>
            <a:r>
              <a:rPr lang="ko-KR" altLang="en-US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프로그램 간 서로의 함수를 빌려쓰기 위한 규칙 </a:t>
            </a:r>
            <a:r>
              <a:rPr lang="en-US" altLang="ko-KR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(App </a:t>
            </a:r>
            <a:r>
              <a:rPr lang="ko-KR" altLang="en-US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간 데이터를 전송하기 위한 표준 메커니즘 제공</a:t>
            </a:r>
            <a:r>
              <a:rPr lang="en-US" altLang="ko-KR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ko-KR" altLang="en-US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"</a:t>
            </a:r>
          </a:p>
          <a:p>
            <a:pPr lvl="2">
              <a:buSzPts val="1600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diff. API, COM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 defTabSz="180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&gt; COM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객체 단위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객체 내에 함수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들이 뭉쳐 있음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 defTabSz="18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e.g.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내가 작성한 프로그램이 크롬의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암호화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빌려 쓰고 싶다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	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근데 내가 막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안의 함수를 내 맘대로 호출할 수 없으니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이라는 중개 객체가 필요한 것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COM? &gt;&gt;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Nope.</a:t>
            </a: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내부에는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라는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Interface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구현한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클래스가 존재한다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bg1">
                  <a:lumMod val="50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즉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껍데기는 서비스 형태</a:t>
            </a:r>
            <a:endParaRPr lang="en-US" altLang="ko-KR" sz="1000">
              <a:solidFill>
                <a:schemeClr val="bg1">
                  <a:lumMod val="50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bg1">
                  <a:lumMod val="50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알맹이가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COM! (e.g. IElevator, IElevator2)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2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가지 핵심 요소 </a:t>
            </a: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Interface: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TKIND_INTERFACE / TKIND_DISPATCH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객체가 어떤 함수를 제공하는지 정의한 명세서 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357188" lvl="2" indent="-179388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AppBoundEncryption , *</a:t>
            </a:r>
            <a:r>
              <a:rPr lang="en-US" altLang="ko-KR" sz="8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*IUnknown** </a:t>
            </a:r>
          </a:p>
          <a:p>
            <a:pPr marL="357188" lvl="2" indent="-179388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rgbClr val="7F7F7F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CoClass – Component Class / TKIND_COCLASS &gt; 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해당 인터페이스를 실제로 구현한 구현체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클래스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자체 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실제 메모리 생성되는 대상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rgbClr val="7F7F7F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357188" lvl="3" indent="-179388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e.g.) ElevationService , IElevator </a:t>
            </a:r>
            <a:endParaRPr lang="en-US" altLang="ko-KR" sz="1000">
              <a:solidFill>
                <a:srgbClr val="7F7F7F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Summary</a:t>
            </a: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할 수 있도록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표준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(GUID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발급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IDL(In compile-time converted to  .tlb),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필수 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상속 조회 가능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상속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B61009D-37BC-ACB6-11AC-24B8F49969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COM 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0F363E0-005C-2238-3EC3-7B2FF0722B2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0201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C684CD6-40FF-04CE-BE0A-18CA2C74F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FF525F3-5AFF-EECB-31D2-2F8C0539DBAD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모든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기본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88" lvl="2" indent="-177800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QueryInterface</a:t>
            </a:r>
          </a:p>
          <a:p>
            <a:pPr marL="357188" lvl="2" indent="-177800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AddRef</a:t>
            </a:r>
          </a:p>
          <a:p>
            <a:pPr marL="357188" lvl="2" indent="-177800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Release</a:t>
            </a:r>
          </a:p>
          <a:p>
            <a:pPr marL="179388" lvl="2">
              <a:buSzPct val="1000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3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가지 메서드를 정의한다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QueryInterface: Interface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사용자가 개체에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대한 포인터를 요청할 수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AddRef / Release: 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대한 참조 계산을 구현한다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수명 관리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579069B-B408-411C-382F-6DC81B3F33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IUnknown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5B1CC88-B454-0EA5-34E2-A7CEB46F60F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19943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045FBAF-AE7D-B453-CA16-900C4076C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B391CC6-F377-452E-135B-3ED5B04F711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 : CLaSs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실제 메모리에 로드되고 실행되는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자체를 식별하는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ID (e.g. : Google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 Elevation 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</a:p>
          <a:p>
            <a:pPr marL="358775" lvl="2" indent="-185738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...\LocalServer32: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호스팅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하는 실제 실행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(exec_path)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(e.g. : C:\Program Files\Google\Chrome\Application\{app_ver}\elevation service.exe)</a:t>
            </a:r>
          </a:p>
          <a:p>
            <a:pPr marL="358775" lvl="2" indent="-185738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클래스가 따르는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GUID 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이를 통해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연결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Path: HKCR\CLSID\{CLSID GUID}\...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HKLM\Software\Classes\CLSID\{CLSID GUID} &lt;&lt; SYSTEM Level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HKCU\Software\Classes\CLSID\{CLSID GUID} &lt;&lt; Per-User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Case of ChromeElevationService?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 Elevation Service Class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경우에 해당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별 다른게 없는 것을 확인할 수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(e.g. : LocalServer32(exe_path), InProcServer32(dll_path)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Why?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보통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부르면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LocalServer32 or InProcServer32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경로를 찾아가 직접 실행하는데 이 경우에는 별 게 없어서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시스템이 직접 프로세스를 실행할 권한이나 방법이 없는 것을 시사한다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대신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적힙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보고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SCM(Service Control Manager)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실행하라고 요청하는 방식으로 동작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++ comrade_abe.py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HKLM\SYSTEM\CurrentControlSet\Services\GoogleChromeElevationService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ImagePath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참조해서 저장하는데 이는 스크립트 사용자에게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exec_path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알려주기 위함이지 별 다른 동작을 하기 위함은 아니다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(SCM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알아서 하것지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Summary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i.e.)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 서비스 전용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(SCM)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이어서 전적으로 위임되어 있다고 보면 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480D7BD-1A82-90C2-0436-D6466CEAB9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CLSID 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E4D8EAF-2219-CE20-F8D2-639CC7EE41F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그림 13">
            <a:extLst>
              <a:ext uri="{FF2B5EF4-FFF2-40B4-BE49-F238E27FC236}">
                <a16:creationId xmlns:a16="http://schemas.microsoft.com/office/drawing/2014/main" id="{E938E175-1143-3272-7D8B-34AFA02A8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09" y="2420677"/>
            <a:ext cx="2862320" cy="84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05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C773D832-955B-963D-9724-3C6D9ECE4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08C8F24-B688-439D-77D2-26BBDD3A1C90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: Application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하나 이상의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(CLSID)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적용되는 보안 및 실행 구성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(Configuration)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그룹화하는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</a:p>
          <a:p>
            <a:pPr marL="358775" lvl="3" indent="-185738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RunAs: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누구 권한으로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(SYSTEM, USER)</a:t>
            </a:r>
          </a:p>
          <a:p>
            <a:pPr marL="358775" lvl="3" indent="-185738">
              <a:buSzPct val="100000"/>
              <a:buAutoNum type="arabicPeriod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LocalService: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값이 있으면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services.msc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보이는 실제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정식 백그라운드 서비스로 구동되어야 함을  의미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첨부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1)</a:t>
            </a:r>
          </a:p>
          <a:p>
            <a:pPr marL="358775" lvl="3" indent="-185738">
              <a:buSzPct val="100000"/>
              <a:buAutoNum type="arabicPeriod"/>
            </a:pP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LaunchPermission</a:t>
            </a:r>
          </a:p>
          <a:p>
            <a:pPr marL="358775" lvl="3" indent="-185738">
              <a:buSzPct val="100000"/>
              <a:buAutoNum type="arabicPeriod"/>
            </a:pP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AccessPermission</a:t>
            </a:r>
          </a:p>
          <a:p>
            <a:pPr marL="358775" lvl="3" indent="-185738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DllSurrogate: 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형태의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대신 호스팅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해주는 대리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(Surrogate)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프로세스를 지정하는 값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4">
              <a:buSzPct val="1000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형태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1: 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(LocalServer):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독립 프로세스로 실행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(e.g. : elevation_service.exe)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&gt;&gt; 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흐름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CLSID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LocalServer32  elevation_service.exe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실행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4">
              <a:buSzPct val="1000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형태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2: 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(In-Proc Server):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자신을 호출한 프로그램의 메모리 공간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안으로 로드되어 실행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&gt;&gt; 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기반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실행 흐름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AppID  DllSurrogate  dllhost.exee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실행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dllhost.exe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내부에 서비스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로드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Path: HKCR\AppID\{AppID GUID}\...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HKLM\Software\Classes\AppID\{AppID GUID} &lt;&lt; System Level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HKCU\Software\Classes\AppID\{APPID GUID} &lt;&lt; Per-User</a:t>
            </a: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Case of ChromeElevationService?</a:t>
            </a: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Case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of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…?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EE0D5D1-279E-8862-ED8D-D8631DB38F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AppID 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017A5E3-A099-555E-21D8-C2C6DF4316D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7FE08E3D-7D3D-33F8-21B5-DC0CBBED8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96" y="3352533"/>
            <a:ext cx="3611735" cy="44766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D940600-AE2F-14A0-FB0A-1915C8D3E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896" y="4010869"/>
            <a:ext cx="3611735" cy="108183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47E55CC-3729-6DDC-63CB-394929F3DE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8190" y="3266813"/>
            <a:ext cx="2557820" cy="18766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F4CF44-BAEE-85D6-B2D9-027F6A67EEC2}"/>
              </a:ext>
            </a:extLst>
          </p:cNvPr>
          <p:cNvSpPr txBox="1"/>
          <p:nvPr/>
        </p:nvSpPr>
        <p:spPr>
          <a:xfrm>
            <a:off x="5704603" y="3033539"/>
            <a:ext cx="1867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첨부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1) services.msc </a:t>
            </a:r>
            <a:endParaRPr lang="ko-KR" altLang="en-US" sz="1000">
              <a:latin typeface="페이퍼로지 2 ExtraLight" pitchFamily="2" charset="-127"/>
              <a:ea typeface="페이퍼로지 2 Extra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90654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DC02F71E-D451-2DD3-F679-61386F078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108FEF26-569D-D7B6-34F8-A44F6D6EAF6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8BF4C28-AA00-F320-0198-9BF7F284CC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service.msc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B106F61-45BA-D235-42DA-1B297F5D99A0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C7DFD05-1F8E-45B1-9E90-01D7182411ED}"/>
              </a:ext>
            </a:extLst>
          </p:cNvPr>
          <p:cNvSpPr txBox="1"/>
          <p:nvPr/>
        </p:nvSpPr>
        <p:spPr>
          <a:xfrm>
            <a:off x="452550" y="966285"/>
            <a:ext cx="1867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첨부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1) services.msc </a:t>
            </a:r>
            <a:endParaRPr lang="ko-KR" altLang="en-US" sz="1000">
              <a:latin typeface="페이퍼로지 2 ExtraLight" pitchFamily="2" charset="-127"/>
              <a:ea typeface="페이퍼로지 2 ExtraLight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6C91625-D5FF-AFAD-6E08-18D63EADC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99" y="1212506"/>
            <a:ext cx="2093426" cy="151342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1CE561E-DEAF-D275-5B9D-B364208842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899" y="3157894"/>
            <a:ext cx="6486832" cy="139276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744698A-108E-D1B4-7E10-48E7B7AF9C2B}"/>
              </a:ext>
            </a:extLst>
          </p:cNvPr>
          <p:cNvSpPr txBox="1"/>
          <p:nvPr/>
        </p:nvSpPr>
        <p:spPr>
          <a:xfrm>
            <a:off x="452549" y="2912452"/>
            <a:ext cx="6712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첨부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2) HKLM\SYSTEM\CurrentControlSet\Services\GoogleChromeElevationService</a:t>
            </a:r>
            <a:endParaRPr lang="ko-KR" altLang="en-US" sz="1000">
              <a:latin typeface="페이퍼로지 2 ExtraLight" pitchFamily="2" charset="-127"/>
              <a:ea typeface="페이퍼로지 2 Extra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96895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4313C10-654E-331E-B0EA-04466E26B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1F27C06-EC1B-63E8-259A-AD95D3A8F1B1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 : Interface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클래스가 제공하는 특정 기능 묶음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식별하는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ID(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IElevator, IElevator2, IEdgeElevatorFinal, etc.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각자 구별하기 위함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</a:p>
          <a:p>
            <a:pPr marL="355600" lvl="3" indent="-177800">
              <a:buSzPct val="100000"/>
              <a:buFont typeface="Arial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ProxyStubClsid32: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 간 통신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(IPC)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 데이터를 직렬화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역직렬화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(Marshaling)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해주는 프록시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표준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 Type: oleautomation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oleaut32.dll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지님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7800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(proxy_stub)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함수 원형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(signature)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정보가 담긴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GUID / Version</a:t>
            </a:r>
          </a:p>
          <a:p>
            <a:pPr marL="228600" lvl="3" indent="-2286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Case of CES</a:t>
            </a:r>
          </a:p>
          <a:p>
            <a:pPr lvl="3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Path: HKCR\Interface\{IID GUID}\...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HKLM\Software\Classes\Interface\{IID GUID} &lt; SYSTEM Level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HKCU\Software\Classes\Interface\{IID GUID} &lt; Per-User</a:t>
            </a: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&gt;?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*find. ProxyStubClsid32** value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FROM HKCR\CLSID\{ProxyStubClsid32.value}</a:t>
            </a: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머꼬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!? *</a:t>
            </a:r>
            <a:r>
              <a:rPr lang="en-US" altLang="ko-KR" sz="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*TypeLib**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 ?!</a:t>
            </a:r>
          </a:p>
          <a:p>
            <a:pPr marL="179388"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Interface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자체가 곧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TypeLib??</a:t>
            </a:r>
          </a:p>
          <a:p>
            <a:pPr marL="539750" lvl="3" indent="-179388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잠만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빨간약 복용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IID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 version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안 맞네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..?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현재 버전이 </a:t>
            </a:r>
            <a:r>
              <a:rPr lang="en-US" altLang="ko-KR" sz="10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145.0.7632.160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인데 여지껏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145.0.7499.193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보고 있었네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&gt;&gt;&gt; </a:t>
            </a:r>
            <a:r>
              <a:rPr lang="ko-KR" altLang="en-US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 다행이다</a:t>
            </a:r>
            <a:r>
              <a:rPr lang="en-US" altLang="ko-KR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**</a:t>
            </a:r>
            <a:r>
              <a:rPr lang="ko-KR" altLang="en-US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값이 어차피 같다</a:t>
            </a:r>
            <a:r>
              <a:rPr lang="en-US" altLang="ko-KR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..??**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== IID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인데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Why??**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FC99294-872B-161D-88BB-2CD51F0ABE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IID 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2D2B82B-2FC8-D579-A46E-18D276AA1F4F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78258977-7529-9DC9-CC42-841963661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476" y="2011099"/>
            <a:ext cx="3438427" cy="4816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6B8AD8C-0B66-9C0F-6285-685FFFB12E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3903" y="2011099"/>
            <a:ext cx="3426106" cy="48155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953842D-2844-F525-BEEE-84E936E4E0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476" y="3384451"/>
            <a:ext cx="3438427" cy="486393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F0561F36-F27B-40E9-44A2-67F8DB1A4FB3}"/>
              </a:ext>
            </a:extLst>
          </p:cNvPr>
          <p:cNvSpPr/>
          <p:nvPr/>
        </p:nvSpPr>
        <p:spPr>
          <a:xfrm>
            <a:off x="3251200" y="3566160"/>
            <a:ext cx="972703" cy="121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D7F219D-8C4B-E8ED-211A-BD1B9ED35520}"/>
              </a:ext>
            </a:extLst>
          </p:cNvPr>
          <p:cNvCxnSpPr>
            <a:cxnSpLocks/>
          </p:cNvCxnSpPr>
          <p:nvPr/>
        </p:nvCxnSpPr>
        <p:spPr>
          <a:xfrm>
            <a:off x="6976800" y="2304000"/>
            <a:ext cx="92867" cy="1953883"/>
          </a:xfrm>
          <a:prstGeom prst="straightConnector1">
            <a:avLst/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53AC1220-B4FD-0C30-2D23-7BCF0C22D2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4801" y="4655282"/>
            <a:ext cx="3649805" cy="40865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C83DAB7-1599-AFF7-2BF8-C46599363A7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4253"/>
          <a:stretch>
            <a:fillRect/>
          </a:stretch>
        </p:blipFill>
        <p:spPr>
          <a:xfrm>
            <a:off x="785477" y="4655282"/>
            <a:ext cx="3059324" cy="408650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82728D-E756-2F3C-D5E2-9D1DE2D1D287}"/>
              </a:ext>
            </a:extLst>
          </p:cNvPr>
          <p:cNvCxnSpPr>
            <a:cxnSpLocks/>
          </p:cNvCxnSpPr>
          <p:nvPr/>
        </p:nvCxnSpPr>
        <p:spPr>
          <a:xfrm flipH="1" flipV="1">
            <a:off x="5494867" y="4461933"/>
            <a:ext cx="833933" cy="397716"/>
          </a:xfrm>
          <a:prstGeom prst="straightConnector1">
            <a:avLst/>
          </a:prstGeom>
          <a:ln>
            <a:solidFill>
              <a:srgbClr val="9933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85927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EE31A075-5088-64CE-4317-30C6D8455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1C748487-8893-3551-50C6-0F58C2CC94A2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: Type Library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COM Interface(IElevator)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구조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Interface's methods, param, return value, etc.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대한 메타데이터를 담고 있는 식별자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정보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.tlb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위치 정보나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내장하고 있는 실행파일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(exe/dll)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경로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Path: HKCR\TypeLib\{TypeLib GUID}\...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HKLM\Software\Classes\TypeLib\{TypeLib GUID} &lt; SYSTEM Level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HKCU\Software\Classes\TypeLib\{TypeLib GUID} &lt; Per-User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Case of ChromeElevationService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정보가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C:\...\elevation_service.exe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담고 있음을 확인했다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.exe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내장되어 있음을 시사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참고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이전 버전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 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4FD5316-1B88-1C87-B64A-B36B3B6110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/>
              <a:t>TypeLib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4B2F756-A922-F346-C03B-A401FA368B91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AD3D5013-F980-4CA0-1610-26E6DB8BB2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735" y="2475932"/>
            <a:ext cx="5130800" cy="81063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C109A00-487C-80FB-9862-8C88ABAD8A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735" y="4019394"/>
            <a:ext cx="5130800" cy="712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672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D98D17B4-B15F-6EA9-40F5-D2F8BA1D7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08D4169-9D04-4960-24F6-6E53C43383C0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 ??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Interface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자체가 곧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</a:p>
          <a:p>
            <a:pPr marL="3556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일반적으로 여러 인터페이스를 하나의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정리해둠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3556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 case of Chrome..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 Interface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정의할 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위한 별도의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GUID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발급하지 않고 그냥 재사용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단일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전용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(1:1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매핑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3556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(.tlb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또는 내장된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.rsrc)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안에 사실상 의미 있는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단 하나일 때 발생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범용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아니니까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(chrome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한정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특수 목적을 위해서 만들었기 때문에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굳이 여러 인터페이스를 묶지 않고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1:1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매핑 해버림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데이터는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형태로만 한정되지 않음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&gt;?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*comtypes.typeinfo.LoadTypeLibEx(r"C:\...\elevation_service.exe")**</a:t>
            </a: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p.s.)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 빨간약 사건이 일어났능가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     &gt; IElevator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IElevator2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넘어가는 과도기에 변화가 있었음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     &gt;&gt;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곧 있을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대한 설명에서 나올 예정 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               &gt;&gt;&gt; Preview..</a:t>
            </a:r>
          </a:p>
          <a:p>
            <a:pPr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IElevator GUID == {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463ABECF-410D-407F-8AF5-0DF35A005CC8}</a:t>
            </a:r>
          </a:p>
          <a:p>
            <a:pPr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	IElevator2 GUID == {1BF5208B-295F-4992-B5F4-3A9BB6494838}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F6402B6-F1FA-36F1-4176-92466D8D8A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5499517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TypeLib</a:t>
            </a:r>
            <a:r>
              <a:rPr lang="ko-KR" altLang="en-US"/>
              <a:t> </a:t>
            </a:r>
            <a:r>
              <a:rPr lang="en-US" altLang="ko-KR"/>
              <a:t>==</a:t>
            </a:r>
            <a:r>
              <a:rPr lang="ko-KR" altLang="en-US"/>
              <a:t> </a:t>
            </a:r>
            <a:r>
              <a:rPr lang="en-US" altLang="ko-KR"/>
              <a:t>IID ??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6BA6892-9E4E-B2A0-D838-EACDEE03153C}"/>
              </a:ext>
            </a:extLst>
          </p:cNvPr>
          <p:cNvCxnSpPr>
            <a:cxnSpLocks/>
          </p:cNvCxnSpPr>
          <p:nvPr/>
        </p:nvCxnSpPr>
        <p:spPr>
          <a:xfrm>
            <a:off x="387275" y="763285"/>
            <a:ext cx="5640992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0142970B-F628-2DC5-09D5-B9ABB59640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98" t="2240" r="3350" b="2353"/>
          <a:stretch>
            <a:fillRect/>
          </a:stretch>
        </p:blipFill>
        <p:spPr>
          <a:xfrm>
            <a:off x="6075654" y="232410"/>
            <a:ext cx="3032626" cy="4907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265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CEDC85C-5583-DE86-98D2-DA396FBD1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28038CF-742E-313C-71EF-38E8B430EFB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서비스 탐색 및 대상 바이너리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(exec_path)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확보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중인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 중 브라우저의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Eleavtion 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찾고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서비스의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추적해 실제 실행 파일 경로를 찾아냄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보안 분석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보안 권한 및 파악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&lt;&lt;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굳이 필요 없긴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찾아서 어떤 사용자 그룹이 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서비스에 접근할 수 있는지 권한 분석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analyze_com_security(self, clsid): CLSID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찾고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LaunchPermission, AccessPermission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레지스트리 값을 읽어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*SDDL**(Security Descriptor Definition Language)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분석한다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및 메타데이터 추출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 파악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(exec_path)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 인터페이스 정보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(TypeLib)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embedding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되어 있는지 확인하고 로드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analyze_pe_typelib(self): exec_path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찾은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(exe/dll)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분석해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섹션에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리소스가 들어 있는지 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load_type_library(self):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메모리에 로드해 인터페이스 분석 준비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4. IID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분석 및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ProxyStub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특정 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(IElevator, IElevator2)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해당 인터페이스가 지닌 함수 목록을 뽑아내 비교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(En/DecryptData)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analyze_interfaces(self): 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순회하며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IElevator, IElevator2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같은 이름이나 특정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(En/DecryptData)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가진 인터페이스의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함수 서명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(Signature)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추출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(C++ Stub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생성 기초 데이터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위해 어떤 프록시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(ProxyStub)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사용하는지 조회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analyze_proxy_stub(self, iid):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추출한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통해서 해당 인터페이스의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ProxyStub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레지스트리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HKCR\Interface\{IID}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조회해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ProxyStubClsid32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연결된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GUID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인터페이스가 어떤 표준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OLE Marshaling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쓰는지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custom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프록시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쓰는지 판별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5.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최종 코드 생성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추출된 정보를 바탕으로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C/C++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페이로드에서 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객체를 직접 호출할 수 있도록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VTable layou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과 인터페이스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Stub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코드를 생성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calculate_vtable_layout(self, chain: InheritanceChain):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분석된 인터페이스의 상속 관계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(e.g. : IUnknown  IElevator)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바탕으로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VTable Offset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계산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generate_cpp_stubs(self, chain: InheritanceChain, maind_iid):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최종적으로 페이로드 코드에 복사해서 쓸 수 있는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C++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인터페이스 형태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(e.g. : virtual HRESULT STDMETHODCALLTYPE DecrypData(...) = 0;)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텍스트를 생성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40ECABE-ED86-2771-0FD0-9A3FFED55F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/>
              <a:t>flow: </a:t>
            </a:r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COMrade_abe.py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BE55481-A70C-C1F0-49BD-14A7A14AFB90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895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23B2908-C7BC-68E6-C00B-82416CDBD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2F5B95C-0A7D-593C-6FF1-476E4559C937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SDDL : Security Descriptor Definition Language</a:t>
            </a:r>
          </a:p>
          <a:p>
            <a:pPr lvl="2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4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" 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에서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레지스트리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서비스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객체 등의 보안 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접근 제어 목록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ACL)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문자 열 형태로 표현하는 언어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</a:t>
            </a:r>
          </a:p>
          <a:p>
            <a:pPr lvl="2">
              <a:buSzPts val="1600"/>
            </a:pPr>
            <a:endParaRPr lang="en-US" altLang="ko-KR" sz="6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1.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기본 구조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357188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O: Owner: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객체의 소유자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SID</a:t>
            </a:r>
          </a:p>
          <a:p>
            <a:pPr marL="357188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G: Group: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객체의 주 그룹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SID</a:t>
            </a:r>
          </a:p>
          <a:p>
            <a:pPr marL="357188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D: DACL(Discretionary Access Control List):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누가 이 객체에 어떤 접근을 할 수 있는지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핵심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marL="357188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S: SACL(System Access Control List):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감사 및 로깅 설정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보안 감사용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종종 생략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6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2.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예시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1450" lvl="3" indent="-171450" defTabSz="36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O:BA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G:BA</a:t>
            </a:r>
            <a:r>
              <a:rPr lang="en-US" altLang="ko-KR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D(A;;GA;;;BA)(A;;GX;;;BU)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</a:p>
          <a:p>
            <a:pPr marL="171450" lvl="3" indent="-171450" defTabSz="3600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O:BA  Owner is BA(Built-in Admins,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관리자 그룹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G:BA  Group is BA(Built-in Admins)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D:...    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괄호 세트 하나가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ACE.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하나의 권한 규칙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//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보통 여러 개가 연속해서 나옴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 defTabSz="252000">
              <a:buSzPts val="1600"/>
            </a:pPr>
            <a:br>
              <a:rPr lang="en-US" altLang="ko-KR" sz="4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&gt;&gt; </a:t>
            </a:r>
            <a:r>
              <a:rPr lang="en-US" altLang="ko-KR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ACE (Access Control Entry)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 defTabSz="252000">
              <a:buSzPts val="1600"/>
            </a:pPr>
            <a:br>
              <a:rPr lang="en-US" altLang="ko-KR" sz="4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구조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6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개 필드를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' ; '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로 구분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 ({Type};{Flags};{Rights};{ObjectGuid};{InheritObjectGuid};{AccountSid})</a:t>
            </a:r>
          </a:p>
          <a:p>
            <a:pPr lvl="3" defTabSz="252000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1.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첫 번째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(A;;GA;;;BA)</a:t>
            </a: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- Type: A = Allow / Deny</a:t>
            </a: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- Rights: GA  = Generic All 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모든 권한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– Full Control)</a:t>
            </a: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- AccountSid: BA = Built-in Admins 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관리자 그룹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해석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관리자 그룹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(BA)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에게 모든 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(GA)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허용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(A)</a:t>
            </a:r>
          </a:p>
          <a:p>
            <a:pPr lvl="3" defTabSz="252000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2.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두 번째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(A;;GX;;;BU) </a:t>
            </a: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- Rights: GX = Generic eXecute 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실행 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일반 사용자 그룹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(BU)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에게 실행 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(GX)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허용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(A)</a:t>
            </a:r>
          </a:p>
          <a:p>
            <a:pPr lvl="3" defTabSz="360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4D52BE9-8D2C-5D68-4988-997527F1E5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SDDL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A2B2340-1907-EB2F-77C4-2183A208D4E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68821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B52464-E851-8980-F19E-0DFCD9B96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19A207FA-94DC-D05C-2260-65200D1698C0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O: S-1-5-80-95...464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G: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S-1-5-80-95...464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D: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</a:t>
            </a:r>
            <a:r>
              <a:rPr lang="en-US" altLang="ko-KR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AI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 ... )  ACE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{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"P": "Proctected=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부모 폴더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(C:\)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로부터의 권한 상속 차단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en-US" altLang="ko-KR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"AI": "Auto-Inherited=</a:t>
            </a:r>
            <a:r>
              <a:rPr lang="ko-KR" altLang="en-US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폴더의 설정된 권한들이 하위 폴더</a:t>
            </a:r>
            <a:r>
              <a:rPr lang="en-US" altLang="ko-KR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/</a:t>
            </a:r>
            <a:r>
              <a:rPr lang="ko-KR" altLang="en-US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파일로 자동 상속</a:t>
            </a:r>
            <a:r>
              <a:rPr lang="en-US" altLang="ko-KR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}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일부 해석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2" defTabSz="252000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2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AccountSid: CO = Creator Owner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AccountSid: AC = AppContainer(e.g. Chrome Browser  Renderer Proc)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Flags: OICIIO =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하위 객체 상속 플래그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하위 폴더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파일에 상속 적용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A1C3CE1-521D-1AEE-C397-BA6E62703F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SDDL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D39BE5F-9E23-4528-8AFA-D67D2EEC7B0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04DEF434-1B89-3CFC-4953-68E95A252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910" y="1097623"/>
            <a:ext cx="7897088" cy="1226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4572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E80D1D6-7AE4-5FCF-8782-4DF5AC7AE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072D1A30-7870-BF40-EFCF-B85FD24F937D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&gt;?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*find. ProxyStubClsid32** value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FROM HKCR\CLSID\{ProxyStubClsid32.value}</a:t>
            </a: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InprocServer32: In-Proc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Load DLL in Client Proc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73B7B7AA-43F6-6C2E-E7BB-E6E1AD19EF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ProxyStubClsid32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0F97E9-5ACD-0D87-3CA8-B1504B07E7C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63F552BF-E863-D49D-CF39-2C2443EC5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876" y="1123851"/>
            <a:ext cx="3438427" cy="486393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4C1FBB6E-B185-FEEE-9078-25D1F4CCF8F9}"/>
              </a:ext>
            </a:extLst>
          </p:cNvPr>
          <p:cNvSpPr/>
          <p:nvPr/>
        </p:nvSpPr>
        <p:spPr>
          <a:xfrm>
            <a:off x="3149600" y="1305560"/>
            <a:ext cx="972703" cy="121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14634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7E57818-C2CE-B9D7-BE61-EF518DFB2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AB02636-C5F7-C26D-6178-2440710766C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순서 정리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[ Chrome App-Bound Encryption DecryptData ]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Chrome.exe (Browser Proc): App-Bound Ecnrypted Data Detected !!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DecryptData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호출하기 위해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CoCreateInstance / CoGetObject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{IID: 1BF5208B- ... }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===================COM Runtime================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ole32.dll / *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combase.dll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**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1. CLSID searching, 2. AppID searching(HKCR\CLSID\{CLSID}.AppID}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2-1.  Ref registry : 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GoogleChromeElevationService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밖에 없음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 services.exe  GoogleChromeElevationService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서비스 시작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elevation_service.exe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실행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(System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===================Start service &amp;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 팩토리 등록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(CoRegisterClassObject)============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===================COM Runtime (Proxy/Stub setting)=================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Marshaler searching (HKCR\Interface\{IID of elevation service}\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ProxyStubClsid32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&amp;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= 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{000020424- ... }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&amp;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{TypeLibID == IID}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</a:t>
            </a:r>
            <a:r>
              <a:rPr lang="ko-KR" altLang="en-US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해당 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ProxyStub: oleaut32.dll (</a:t>
            </a:r>
            <a:r>
              <a:rPr lang="ko-KR" altLang="en-US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표준 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Marshaler ++ InprocServer(In Chrome.exe Proc) </a:t>
            </a:r>
            <a:r>
              <a:rPr lang="ko-KR" altLang="en-US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형식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Marshaler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TypeLib 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로드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(TypeLib searching (HKCR\TypeLib\{TypeLibID}\{ver}\... = 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본인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exec_path) ?? &gt;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(Marshaler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가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Interface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Methods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알아야 형태를 보고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Marshaling 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가능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oleaut32.dll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로드 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rpcrt4.dllCreateProxyFromTypeInfo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보고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Proxy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생성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세부 과정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1. Client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가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객체 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(IElevator)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요청하면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런타임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(combase.dll)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은 내부적으로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CoMarshalInterface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호출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런타임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(combase.dll)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레지스트리에서 해당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IID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어떻게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할지 찾아본다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(oleaut32.dll)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2. oleaut32.dll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로드 및 팩토리 객체 생성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런타임은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oleaut32.dll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chrome.exe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메모리에 올리고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내부 함수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DllGetClassObject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호출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이를 통해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IPSFactoryBuffer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인터페이스 객체를 획득함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(IPCFactoryBuffer : Proxy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생성 공장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3.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프록시 생성 지시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(IPSFactoryBuffer :: CreateProxy)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COM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런타임은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oleaut32.dll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제공한 팩토리 객체에게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프록시 생성해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! (IPCFactoryBuffer :: CreateProxy)"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명령 내림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4. 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정보 추출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??&gt; Proxy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뚝딱 만들지는 못하고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Proxy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생성하기 위한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Interface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설계도 필요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HKCR\Interface\{IID}\TypeLib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에서 뒤져서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.tlb, .dll, .exe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찾기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LoadRegTypeLib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같은 함수를 써서 설계도를 메모리에 로드하고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ITypeInfo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라는 인터페이스 포인터 형태로 확보한다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제어권 다시 획득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(chrome.exe)========================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IElevator Proxy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포인터 획득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(pIElevator)  pIElevatorDecryptData(app_path,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68EEF7C-B41F-7FF0-9F8F-7CD9AF6ADF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Flow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00D7289-0932-A47E-9A73-E94841848D11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A2691BF3-E87F-B5C5-6286-B1BA68DF34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063" y="468392"/>
            <a:ext cx="6245475" cy="417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3200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853CFA4D-5AD5-A305-32F0-C62C0E23B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6BC8060-E466-CEAF-E4B4-FDADB41D371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oleaut32.dll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piece of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exports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list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combase.dll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piece of exports list 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4574CEA-0C40-0019-88C6-DFDFA39C77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BCC51D4-2859-F01F-730E-D3261D23C968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C70DA14E-CE96-4E04-782D-9DDB88E44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1302508"/>
            <a:ext cx="6113517" cy="12692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1158683-273F-DFF9-68D2-CF539027E2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19" y="3111372"/>
            <a:ext cx="6870023" cy="487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5830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AA3EE64-FA01-C944-8489-F756469C7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9D3B080-A78E-0E29-9809-6B64440B450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34A01D7-5A6C-E717-B799-74B72D5C27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E6A8302-2B88-FA14-6B66-1B7763D31A22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15980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4BA021D-7128-1CBF-8B82-DBE7AE24E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18592AB-C231-0D51-1961-0A48B147DC1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Instance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Proxy/Stub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생성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Method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제공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1FC4B61-616A-BC12-FC32-ED45DF12C8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3D765BD-0416-EC8C-82E9-DF8F3A672AE8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2C138324-58B8-FAD3-FDE0-CC3D8CB39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117" y="1189839"/>
            <a:ext cx="2408844" cy="3832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8744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4AC0CEB-04AE-6142-282C-89C469068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395D50A-905E-56C8-B058-719F84350100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 (CLaSs Identifier) (comrade_abe/ComInterfaceAnalyzer._find_clsid_for_service)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DllSurogate, RunAs, 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value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로써 있을 수 있음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reg key: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객체가 어떤 방식으로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권한으로 실행될지 결정하는 중요한 값이 들어감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형태로 만들어진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DllSurogate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실행하라는 요청이 들어오면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servic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연결해라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RunAs: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계정으로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(LocalSystem, LocalService, NetworkService …)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존재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*&gt;*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**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ImagePath validation (comrade_abe/ComInterfaceAnalyzer.__init__)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439536A-21FC-8726-1426-7000EA18A3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EFC1485-501C-ED30-BB5F-C617B8E508AA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7A72D6C1-6572-9E30-9126-C10E79C02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727" y="2019223"/>
            <a:ext cx="8106906" cy="11050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11DE3C4-0696-175D-224C-9E150CB1F7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727" y="3604005"/>
            <a:ext cx="6280151" cy="130775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C09F674-42D0-6AD7-042B-3B44A67D2E24}"/>
              </a:ext>
            </a:extLst>
          </p:cNvPr>
          <p:cNvSpPr/>
          <p:nvPr/>
        </p:nvSpPr>
        <p:spPr>
          <a:xfrm>
            <a:off x="3660802" y="2019223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89776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4F37DD3-5D0C-F1F3-464D-8A2D616AA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1479CDD-5B52-C971-D401-C024C167782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이유를 찾아보니까능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</a:t>
            </a:r>
            <a:r>
              <a:rPr lang="en-US" altLang="ko-KR" sz="10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e.g.) InprocServer32 &gt; Path: %systemroot%\system32\ShellConfigTask.dll </a:t>
            </a: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정책 변경되면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HKLM\Software\Classes\AppID\{…AppID…}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존재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LocalService ??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-- 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경로를 실행하는게 아니라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이미 등록된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백그라운드 서비스를 호출해 작업을 처리한다는 뜻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이미 로드되어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!)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7F64380B-C51B-A83B-4357-B0B6E38AF1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95031A8-3614-66D3-2369-B4E6AFEC260F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203134AC-5C83-8473-C04B-E61231B10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98" y="1239633"/>
            <a:ext cx="4627271" cy="1061695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FF1D16FB-2372-9EEE-B5FE-6E9A40F07BAB}"/>
              </a:ext>
            </a:extLst>
          </p:cNvPr>
          <p:cNvCxnSpPr>
            <a:cxnSpLocks/>
          </p:cNvCxnSpPr>
          <p:nvPr/>
        </p:nvCxnSpPr>
        <p:spPr>
          <a:xfrm flipH="1">
            <a:off x="800100" y="1085850"/>
            <a:ext cx="1050131" cy="4286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3DAB695E-0B58-E321-A816-FA390F1ABE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5636" y="0"/>
            <a:ext cx="323272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511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7B585D6-3922-BA11-C32F-99374FA7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F67EB72-B424-8E64-FB63-753F325E68B6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comrade_abe.py &gt; ComInterfaceAnalyzer.discover_elevation_services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Start: 0x0(Boot start: Disk driver, system core), 0x1(System start: Device driver, system module), 0x2(Auto start: Vaccine,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Win), 0x3(Demand start: elevation service)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26D6016-E7BA-41A1-8972-FEADD1EA8F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313680E-8D7E-C4BB-6B48-42E3DAEC1FD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B8D2DD6E-719D-F5BB-3DC8-C548B1226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4" y="1419925"/>
            <a:ext cx="9144000" cy="18894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946FBAA-364C-1DA8-E920-C0876CA9B9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4" y="1928834"/>
            <a:ext cx="9144000" cy="186040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05993BF-27D9-640F-AE90-EDDB3D096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3191"/>
            <a:ext cx="9144000" cy="201727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0F9DB73-8CCA-337F-42AC-554B5D4E8AAE}"/>
              </a:ext>
            </a:extLst>
          </p:cNvPr>
          <p:cNvSpPr/>
          <p:nvPr/>
        </p:nvSpPr>
        <p:spPr>
          <a:xfrm>
            <a:off x="2676866" y="1392501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2192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975FD64-4CD0-EE9D-7D49-273B37FEC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38336EB-EE2D-F85D-68D5-994FDEF579F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HEKY_LM\software\classes\clsid\...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여기서 조회하면 해당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어떤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인지 알 수 없는데 만다꼬 여기도 있음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\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이전 페이지 정보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누가 실행할 권한이 있나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현재 페이지 정보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??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뭐가 없는데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원래 하위폴더가 있어야 하는데 없노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..)</a:t>
            </a:r>
          </a:p>
          <a:p>
            <a:pPr lvl="2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 분리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하나의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App(appid)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안에 여러 기능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(clsid)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들어갈 수 있고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 프로그램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백그라운드 서비스로 실행될 때의 권한을 달리주기 위함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lvl="2">
              <a:buSzPts val="1600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 순서를 다시 보자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342900" lvl="2" indent="-342900">
              <a:buSzPts val="1600"/>
              <a:buAutoNum type="arabicPeriod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 찾기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(find_service_details) : 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SYSTEM\CurrentControlSet\Services\googleChromeElevationSerivce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탐색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2" indent="-342900">
              <a:buSzPts val="1600"/>
              <a:buAutoNum type="arabicPeriod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(_find_clsid_for_service)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Classes\AppID searching.. LocalService=“Google…Service”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폴더 고유번호 탐색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2" indent="-342900">
              <a:buSzPts val="1600"/>
              <a:buAutoNum type="arabicPeriod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조우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아하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바로 이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크롬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…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서비스의 진짜 알맹이로구만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?”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21755BF-039E-A721-B799-3AF00ABCC1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1BDF79B-512C-5366-661E-56C6DCCBD83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98B7D00C-9C94-9D5E-C6B7-DCF483946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04" y="1542119"/>
            <a:ext cx="8897592" cy="962159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9712D27-AF74-9CC0-A9E3-B2DD38EF9AC3}"/>
              </a:ext>
            </a:extLst>
          </p:cNvPr>
          <p:cNvSpPr/>
          <p:nvPr/>
        </p:nvSpPr>
        <p:spPr>
          <a:xfrm>
            <a:off x="3294743" y="1542119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F407D33-AFB5-CD00-EEAD-41F689A238FD}"/>
              </a:ext>
            </a:extLst>
          </p:cNvPr>
          <p:cNvSpPr/>
          <p:nvPr/>
        </p:nvSpPr>
        <p:spPr>
          <a:xfrm>
            <a:off x="3823660" y="1542120"/>
            <a:ext cx="2852057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704BC66-4588-E5CF-1A9C-1C4356E3D6D7}"/>
              </a:ext>
            </a:extLst>
          </p:cNvPr>
          <p:cNvSpPr/>
          <p:nvPr/>
        </p:nvSpPr>
        <p:spPr>
          <a:xfrm>
            <a:off x="6103256" y="2256969"/>
            <a:ext cx="2852057" cy="242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C32183F9-64D8-DBEB-BCB4-7DDF984FCB41}"/>
              </a:ext>
            </a:extLst>
          </p:cNvPr>
          <p:cNvCxnSpPr/>
          <p:nvPr/>
        </p:nvCxnSpPr>
        <p:spPr>
          <a:xfrm flipH="1" flipV="1">
            <a:off x="5733826" y="1734455"/>
            <a:ext cx="369430" cy="63222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6818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5D4F74A-64E3-F1EA-73E2-2E8739E7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BDCD290-968E-B828-2A43-53E7B1A843F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ComInterfaceAnalyzer.analyze_proxy_stub </a:t>
            </a:r>
            <a:endParaRPr lang="en-US" altLang="ko-KR" sz="1000" b="1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 b="1">
                <a:latin typeface="페이퍼로지 4 Regular" pitchFamily="2" charset="-127"/>
                <a:ea typeface="페이퍼로지 4 Regular" pitchFamily="2" charset="-127"/>
              </a:rPr>
              <a:t>Google Chrome Elevation Service: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 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CLSID/AppID(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</a:rPr>
              <a:t>동일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): {708860E0-F641-4611-8895-7D867DD3675B},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IID / TypeLib: {463ABECF-410D-407F-8AF5-0DF35A005CC8}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1.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경로를 뒤져서 찾은 인터페이스 통신 전담 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Proxy/Stub Set CLSID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탐색</a:t>
            </a: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2. TypeLib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도 함께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..</a:t>
            </a:r>
          </a:p>
          <a:p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+ TypeLib / IID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가 동일한 이유 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= ???: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객체로부터 직접 명세서를 받아내는 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Fallback Mechanism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작동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..?</a:t>
            </a:r>
            <a:b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</a:br>
            <a:r>
              <a:rPr lang="en-US" altLang="ko-KR" sz="1000"/>
              <a:t>elif not reg_read_value(winreg.HKEY_CLASSES_ROOT, rf"TypeLib\{result.typelib_id}", None):</a:t>
            </a:r>
          </a:p>
          <a:p>
            <a:r>
              <a:rPr lang="en-US" altLang="ko-KR" sz="1000"/>
              <a:t>                    # TypeLib GUID specified but not registered in TypeLib registry</a:t>
            </a:r>
          </a:p>
          <a:p>
            <a:r>
              <a:rPr lang="en-US" altLang="ko-KR" sz="1000"/>
              <a:t>                    # This can still work if the interface itself is the TypeLib ID</a:t>
            </a:r>
          </a:p>
          <a:p>
            <a:r>
              <a:rPr lang="en-US" altLang="ko-KR" sz="1000"/>
              <a:t>                    pass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b="1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b="1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8771C69-D2C7-88EC-BD1F-F2100E4667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89706AE-4CD3-F853-C7AE-CB3FF9F3DBD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116FB6EA-357E-8FC8-6B29-71F4C6B73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98" y="1587376"/>
            <a:ext cx="8697539" cy="117173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421E9F5-F20E-95A9-458F-664BF743B0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00" y="3841391"/>
            <a:ext cx="8830907" cy="1162212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3D252BC-5F5B-04E1-8B3E-BE6B9CE07CBF}"/>
              </a:ext>
            </a:extLst>
          </p:cNvPr>
          <p:cNvSpPr/>
          <p:nvPr/>
        </p:nvSpPr>
        <p:spPr>
          <a:xfrm>
            <a:off x="1428083" y="2237678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85997C-16F2-0622-CD0F-FEDAE3B9D8E2}"/>
              </a:ext>
            </a:extLst>
          </p:cNvPr>
          <p:cNvSpPr/>
          <p:nvPr/>
        </p:nvSpPr>
        <p:spPr>
          <a:xfrm>
            <a:off x="5860233" y="2077077"/>
            <a:ext cx="3062674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093132A-2C7F-E775-DF02-4D5E480595D6}"/>
              </a:ext>
            </a:extLst>
          </p:cNvPr>
          <p:cNvSpPr/>
          <p:nvPr/>
        </p:nvSpPr>
        <p:spPr>
          <a:xfrm>
            <a:off x="793380" y="4711859"/>
            <a:ext cx="540567" cy="1721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EE17B23-3148-75A2-2D80-CA671213697E}"/>
              </a:ext>
            </a:extLst>
          </p:cNvPr>
          <p:cNvSpPr/>
          <p:nvPr/>
        </p:nvSpPr>
        <p:spPr>
          <a:xfrm>
            <a:off x="3140339" y="4779012"/>
            <a:ext cx="4551378" cy="3631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해당 </a:t>
            </a:r>
            <a:r>
              <a:rPr lang="en-US" altLang="ko-KR">
                <a:solidFill>
                  <a:schemeClr val="tx1"/>
                </a:solidFill>
              </a:rPr>
              <a:t>TypeLib</a:t>
            </a:r>
            <a:r>
              <a:rPr lang="ko-KR" altLang="en-US">
                <a:solidFill>
                  <a:schemeClr val="tx1"/>
                </a:solidFill>
              </a:rPr>
              <a:t>은 </a:t>
            </a:r>
            <a:r>
              <a:rPr lang="en-US" altLang="ko-KR">
                <a:solidFill>
                  <a:schemeClr val="tx1"/>
                </a:solidFill>
              </a:rPr>
              <a:t>GoogleChromeElevationService</a:t>
            </a:r>
            <a:r>
              <a:rPr lang="ko-KR" altLang="en-US">
                <a:solidFill>
                  <a:schemeClr val="tx1"/>
                </a:solidFill>
              </a:rPr>
              <a:t>의 </a:t>
            </a:r>
            <a:r>
              <a:rPr lang="en-US" altLang="ko-KR">
                <a:solidFill>
                  <a:schemeClr val="tx1"/>
                </a:solidFill>
              </a:rPr>
              <a:t>TypeLib ID</a:t>
            </a:r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5494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3B25CA3-2689-C083-FF69-EA7FCD3FB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0EFAD1BE-5A42-5F12-17EC-83B8AD8CD497}"/>
              </a:ext>
            </a:extLst>
          </p:cNvPr>
          <p:cNvSpPr txBox="1"/>
          <p:nvPr/>
        </p:nvSpPr>
        <p:spPr>
          <a:xfrm flipH="1">
            <a:off x="452550" y="9319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ComInterfaceAnalyzer.analyze_proxy_stub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이전 페이지의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검색해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InprocServer32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oleaut32.dll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 Automation Library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기본 내장 핵심 시스템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(DLL)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객체가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필요하다 했는데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****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코드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****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보면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 = “custom”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사용자가 직접 코드를 짜서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Proxy/Stub 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만들어야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 = “oleautomation”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표준 데이터 타입만 사용한다면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알아서 해줌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알아서 해준다함은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i.e.) oleaut32.dll ==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통역사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3B8D81E-7ACC-D283-A417-3336204D18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314C9BD-6C4D-7FE6-6A3D-A3E6661910A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>
            <a:extLst>
              <a:ext uri="{FF2B5EF4-FFF2-40B4-BE49-F238E27FC236}">
                <a16:creationId xmlns:a16="http://schemas.microsoft.com/office/drawing/2014/main" id="{F0D04EF8-869B-2580-AA4E-99BE28CD5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83" y="3328563"/>
            <a:ext cx="8354591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1440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9E548B8-86E0-179A-CB44-59883C7B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CD8E7EA-1361-CC77-9616-119AB45FFB3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proxy? (Client-side)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Client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함수를 호출하면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요청을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후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전송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stub? (Server-side)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기능 껍데기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보낸 데이터를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Unmarshaling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후 실제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Invoke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한 다음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return to Proxy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역할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src/sys/internal_api.cpp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등에 있는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Vaccine, EDR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우회 용도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프로그램이 메모리 할당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 개봉 시에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OpenProcess, VirtualAlloc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등의 함수를 사용하는데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Can be detected by Vaccine..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기법은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WinAPI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거치지 않고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OS Kernel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직접 요청하는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Direct Systcall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기법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이때 사용되는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Assembly Code Strips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이라고 지칭함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Common: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서로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코드 통신을 위함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3005012-37D1-F981-9362-D30CD55129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2A7B2FA-413E-5C2A-D46A-C403494C8F5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2857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C5740130-C558-6334-3AC5-9A608EE7E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3B664085-E586-42E2-2F21-89D946DC8A0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만든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IElevator2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Python, PS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 다른 언어에서 쓰려면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if.) Python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Call okay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but)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객체에 무슨 함수가 있고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param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몇 개야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문제 발생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so)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개발자는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컴파일 할 적에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객체가 가진 모든 함수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변수 정보를 모아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.tlb(Type Library)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라는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Binary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설명서 파일을 같이 만들어서 배포함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 .dll, .exe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안의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resource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 넣기도 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any) .tlb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파일을 보고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func, param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파악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92E9846-86B1-9BC9-01AC-61F30F2781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9B5CD7A-107F-323C-FFD0-94288185C80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7106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F2C0D30-8518-058E-CF70-3D4237CC4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77041B1D-7E2E-13FE-BC1C-ADDC0DCF2CA3}"/>
              </a:ext>
            </a:extLst>
          </p:cNvPr>
          <p:cNvSpPr txBox="1"/>
          <p:nvPr/>
        </p:nvSpPr>
        <p:spPr>
          <a:xfrm flipH="1">
            <a:off x="452550" y="885617"/>
            <a:ext cx="2456905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Tool: C:\Program Files (x86)\Windows Kits\10\bin\10.0.26100.0\x64\oleview.exe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*&gt;*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.text(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코드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), .data, …, .rsrc(resources)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섹션이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.rsrc: ico, program info, …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TypeLib: .rsrc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23DF4CE-3F44-8821-ED49-8A4A2C677E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201685"/>
            <a:ext cx="2456905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 sz="1400">
                <a:latin typeface="페이퍼로지 6 SemiBold" pitchFamily="2" charset="-127"/>
                <a:ea typeface="페이퍼로지 6 SemiBold" pitchFamily="2" charset="-127"/>
              </a:rPr>
              <a:t>Extract TypeLib with Win-Kit</a:t>
            </a:r>
            <a:endParaRPr sz="140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EDD82DF-6969-5DFE-FBDE-DF876B7E8179}"/>
              </a:ext>
            </a:extLst>
          </p:cNvPr>
          <p:cNvCxnSpPr>
            <a:cxnSpLocks/>
          </p:cNvCxnSpPr>
          <p:nvPr/>
        </p:nvCxnSpPr>
        <p:spPr>
          <a:xfrm>
            <a:off x="387275" y="763285"/>
            <a:ext cx="2588681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3A478701-77BD-BB9B-0AEA-29EEDE8FEC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98" t="2240" r="3350" b="2353"/>
          <a:stretch>
            <a:fillRect/>
          </a:stretch>
        </p:blipFill>
        <p:spPr>
          <a:xfrm>
            <a:off x="6111374" y="232410"/>
            <a:ext cx="3032626" cy="490728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4B03129-BCCE-421F-B062-A786E50286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753" t="2166" r="4138" b="2427"/>
          <a:stretch>
            <a:fillRect/>
          </a:stretch>
        </p:blipFill>
        <p:spPr>
          <a:xfrm>
            <a:off x="3244771" y="272242"/>
            <a:ext cx="2866603" cy="4827616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A97021DD-D76A-3C78-3B7A-442873D04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50" y="2571750"/>
            <a:ext cx="2456905" cy="49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65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E5AF31F3-2DF8-5569-EC23-7A4A9EEF1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EF15C4F-E7D3-3BE5-E0DE-1E23A737D47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  section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통째로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extract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90DC5FD-7E61-4571-351E-672A1DE9A0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Extract</a:t>
            </a:r>
            <a:r>
              <a:rPr lang="ko-KR" altLang="en-US"/>
              <a:t> </a:t>
            </a:r>
            <a:r>
              <a:rPr lang="en-US" altLang="ko-KR"/>
              <a:t>TypeLib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478DB1E-A078-98D1-0024-FAAF1067468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325810E4-7CE6-1739-5519-4EEC42F0F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385" y="3263935"/>
            <a:ext cx="1813601" cy="1158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7217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2832F49-CAEB-5BCD-27BA-F4B1B1D6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2A1F9C8-E3C2-8E14-A242-D1DECB8FB81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ComInterfaceAnalyzer.analyze_pe_typelib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핵심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B65BDE5-98C8-433F-0E99-271DD42370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Extract</a:t>
            </a:r>
            <a:r>
              <a:rPr lang="ko-KR" altLang="en-US"/>
              <a:t> </a:t>
            </a:r>
            <a:r>
              <a:rPr lang="en-US" altLang="ko-KR"/>
              <a:t>TypeLib</a:t>
            </a:r>
            <a:r>
              <a:rPr lang="ko-KR" altLang="en-US"/>
              <a:t> </a:t>
            </a:r>
            <a:r>
              <a:rPr lang="en-US" altLang="ko-KR"/>
              <a:t>with Py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9C66FD8-3C12-E0B2-281A-3879B4FE5B3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F9420346-4BEC-0B11-AE8A-33F03AB91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105" y="1600180"/>
            <a:ext cx="3602623" cy="127602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F019469-D98B-8ED1-5DC1-F264A1017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525" y="958983"/>
            <a:ext cx="5527964" cy="8968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0D797D0-EF7D-1959-DE09-71CBDB8C50C2}"/>
              </a:ext>
            </a:extLst>
          </p:cNvPr>
          <p:cNvSpPr/>
          <p:nvPr/>
        </p:nvSpPr>
        <p:spPr>
          <a:xfrm>
            <a:off x="1903615" y="2128058"/>
            <a:ext cx="1604356" cy="2161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9828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D2A82E6-0C35-34CF-BA6F-E8439D0CF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23F0930-B0C4-6C27-7DC9-14BD2D43EB14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comrade_ade.py &gt; ComInterfaceAnalyzer.search_typelibs_by_pattern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ID {1BF5208B- …}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역할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안에는 어떤 함수들이 있고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파라미터는 뭘 받아야 하는가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알려주는 명세서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설명서의 고유 번호입니다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어디서 쓰이나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방금 질문하신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search_typelibs_by_pattern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함수에서 사용됩니다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서비스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RunRecoveryCRXElevated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EncryptData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 어떤 함수들이 숨겨져 있는지 그 구조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 Library)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파악하기 위해 사용합니다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위치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레지스트리의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HKEY_CLASSES_ROOT\TypeLib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아래에 저장됩니다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win32,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win64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탐색하는 과정을 두고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 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라고 해둔 걸 보면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원래는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경로를 지니고 있는 듯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(.dll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가리키는 경로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그러나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Chrome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자체인 것을 보니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embedded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 듯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처리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 ComInterfaceAnalyzer.analyze_pe_typelib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9BD50E0-FE82-3DEE-6754-36F4E0E1A2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41D66B5-44CD-99B6-D203-E57D9E78A112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36B16C3E-125F-ABEE-414E-8DE782581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18594"/>
            <a:ext cx="9144000" cy="110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5338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F614D13B-7E30-7588-A046-36F0F8042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7B6AE31-D07D-718A-52C6-DA74569B8B0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0E0FC41-6430-7AEA-C51F-F9305E11AF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B235A67-E1DA-C801-D341-37ECF063CFF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97973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CB6EB41-A06C-DB8D-277E-9DB92CB82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642D171-6477-47F9-3558-2CB5598CC22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51C5B75-5DA9-5817-399D-CEB4B4B11C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C166897-4542-D55E-8F28-33CA79AA6C3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62974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EA6759E-7960-35E7-211C-BF1E2BCB7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873B91C-909E-6802-49CF-058C977569D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FAFA12B9-4D08-35FE-FEA9-93FEEEAA1E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57F9F18-0424-D966-BCE8-4A0BB9347D81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94128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0BB8E67-8C59-3089-7C3E-92D32955A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5971745-C39E-BEE6-835A-1EEC36AB988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292B8EF-7B1C-DED0-7318-DFFBB03BD3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8C2C551-029E-E8B6-83E2-8C5AEC9ADEC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09371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45C8F21-FF17-815D-89C2-E85748F3A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CD02AE1E-D283-EE20-3510-3163E9BC4B6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4BFDC00-E8B5-86E2-3B16-428B75CD95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167D3FB-CC5D-DA24-146A-4FCA494DE10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87645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4D396A-4999-660B-FEB9-04B7883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8846D92-0BEB-C31F-DAEA-EF1A261CA1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889640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Thank you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2380057775"/>
      </p:ext>
    </p:extLst>
  </p:cSld>
  <p:clrMapOvr>
    <a:masterClrMapping/>
  </p:clrMapOvr>
</p:sld>
</file>

<file path=ppt/theme/theme1.xml><?xml version="1.0" encoding="utf-8"?>
<a:theme xmlns:a="http://schemas.openxmlformats.org/drawingml/2006/main" name="Energy Infographics by Slidesgo">
  <a:themeElements>
    <a:clrScheme name="Simple Light">
      <a:dk1>
        <a:srgbClr val="000000"/>
      </a:dk1>
      <a:lt1>
        <a:srgbClr val="FFFFFF"/>
      </a:lt1>
      <a:dk2>
        <a:srgbClr val="E9E9E9"/>
      </a:dk2>
      <a:lt2>
        <a:srgbClr val="A7A7A7"/>
      </a:lt2>
      <a:accent1>
        <a:srgbClr val="51EEBC"/>
      </a:accent1>
      <a:accent2>
        <a:srgbClr val="ECBF69"/>
      </a:accent2>
      <a:accent3>
        <a:srgbClr val="8DB6FA"/>
      </a:accent3>
      <a:accent4>
        <a:srgbClr val="FAA4B5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13_Hash</Template>
  <TotalTime>4161</TotalTime>
  <Words>5596</Words>
  <Application>Microsoft Office PowerPoint</Application>
  <PresentationFormat>화면 슬라이드 쇼(16:9)</PresentationFormat>
  <Paragraphs>503</Paragraphs>
  <Slides>42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52" baseType="lpstr">
      <vt:lpstr>Arial</vt:lpstr>
      <vt:lpstr>페이퍼로지 2 ExtraLight</vt:lpstr>
      <vt:lpstr>Montserrat Medium</vt:lpstr>
      <vt:lpstr>Montserrat</vt:lpstr>
      <vt:lpstr>페이퍼로지 6 SemiBold</vt:lpstr>
      <vt:lpstr>Wingdings</vt:lpstr>
      <vt:lpstr>페이퍼로지 4 Regular</vt:lpstr>
      <vt:lpstr>페이퍼로지 1 Thin</vt:lpstr>
      <vt:lpstr>맑은 고딕</vt:lpstr>
      <vt:lpstr>Energy Infographics by Slidesgo</vt:lpstr>
      <vt:lpstr>COMrade_ABE Analysis</vt:lpstr>
      <vt:lpstr>Overview</vt:lpstr>
      <vt:lpstr>발표 자료 작성 중 개념 정리 </vt:lpstr>
      <vt:lpstr>Overview</vt:lpstr>
      <vt:lpstr>Overview</vt:lpstr>
      <vt:lpstr>Overview</vt:lpstr>
      <vt:lpstr>Section done.</vt:lpstr>
      <vt:lpstr>Overview</vt:lpstr>
      <vt:lpstr>COM overview</vt:lpstr>
      <vt:lpstr>IUnknown</vt:lpstr>
      <vt:lpstr>CLSID overview</vt:lpstr>
      <vt:lpstr>AppID overview</vt:lpstr>
      <vt:lpstr>service.msc</vt:lpstr>
      <vt:lpstr>IID overview</vt:lpstr>
      <vt:lpstr>TypeLib</vt:lpstr>
      <vt:lpstr>TypeLib == IID ??</vt:lpstr>
      <vt:lpstr>flow: COMrade_abe.py</vt:lpstr>
      <vt:lpstr>SDDL</vt:lpstr>
      <vt:lpstr>SDDL</vt:lpstr>
      <vt:lpstr>ProxyStubClsid32</vt:lpstr>
      <vt:lpstr>Flow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Extract TypeLib with Win-Kit</vt:lpstr>
      <vt:lpstr>Extract TypeLib</vt:lpstr>
      <vt:lpstr>Extract TypeLib with Py</vt:lpstr>
      <vt:lpstr>Overview</vt:lpstr>
      <vt:lpstr>Overview</vt:lpstr>
      <vt:lpstr>Overview</vt:lpstr>
      <vt:lpstr>Overview</vt:lpstr>
      <vt:lpstr>Overview</vt:lpstr>
      <vt:lpstr>Overview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박세원</dc:creator>
  <cp:lastModifiedBy>박세원</cp:lastModifiedBy>
  <cp:revision>814</cp:revision>
  <dcterms:created xsi:type="dcterms:W3CDTF">2026-02-25T09:00:40Z</dcterms:created>
  <dcterms:modified xsi:type="dcterms:W3CDTF">2026-03-21T10:02:40Z</dcterms:modified>
</cp:coreProperties>
</file>