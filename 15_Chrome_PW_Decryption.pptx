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31"/>
  </p:notesMasterIdLst>
  <p:sldIdLst>
    <p:sldId id="256" r:id="rId2"/>
    <p:sldId id="422" r:id="rId3"/>
    <p:sldId id="345" r:id="rId4"/>
    <p:sldId id="410" r:id="rId5"/>
    <p:sldId id="423" r:id="rId6"/>
    <p:sldId id="446" r:id="rId7"/>
    <p:sldId id="456" r:id="rId8"/>
    <p:sldId id="439" r:id="rId9"/>
    <p:sldId id="454" r:id="rId10"/>
    <p:sldId id="421" r:id="rId11"/>
    <p:sldId id="437" r:id="rId12"/>
    <p:sldId id="411" r:id="rId13"/>
    <p:sldId id="440" r:id="rId14"/>
    <p:sldId id="441" r:id="rId15"/>
    <p:sldId id="442" r:id="rId16"/>
    <p:sldId id="443" r:id="rId17"/>
    <p:sldId id="444" r:id="rId18"/>
    <p:sldId id="415" r:id="rId19"/>
    <p:sldId id="455" r:id="rId20"/>
    <p:sldId id="452" r:id="rId21"/>
    <p:sldId id="424" r:id="rId22"/>
    <p:sldId id="453" r:id="rId23"/>
    <p:sldId id="412" r:id="rId24"/>
    <p:sldId id="438" r:id="rId25"/>
    <p:sldId id="435" r:id="rId26"/>
    <p:sldId id="457" r:id="rId27"/>
    <p:sldId id="458" r:id="rId28"/>
    <p:sldId id="459" r:id="rId29"/>
    <p:sldId id="287" r:id="rId30"/>
  </p:sldIdLst>
  <p:sldSz cx="9144000" cy="5143500" type="screen16x9"/>
  <p:notesSz cx="6858000" cy="9144000"/>
  <p:embeddedFontLst>
    <p:embeddedFont>
      <p:font typeface="D2Coding" panose="020B0609020101020101" pitchFamily="49" charset="-127"/>
      <p:regular r:id="rId32"/>
      <p:bold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Montserrat Medium" panose="00000600000000000000" pitchFamily="2" charset="0"/>
      <p:regular r:id="rId38"/>
      <p:bold r:id="rId39"/>
      <p:italic r:id="rId40"/>
      <p:boldItalic r:id="rId41"/>
    </p:embeddedFont>
    <p:embeddedFont>
      <p:font typeface="맑은 고딕" panose="020B0503020000020004" pitchFamily="50" charset="-127"/>
      <p:regular r:id="rId42"/>
      <p:bold r:id="rId43"/>
    </p:embeddedFont>
    <p:embeddedFont>
      <p:font typeface="페이퍼로지 1 Thin" pitchFamily="2" charset="-127"/>
      <p:regular r:id="rId44"/>
    </p:embeddedFont>
    <p:embeddedFont>
      <p:font typeface="페이퍼로지 2 ExtraLight" pitchFamily="2" charset="-127"/>
      <p:regular r:id="rId45"/>
    </p:embeddedFont>
    <p:embeddedFont>
      <p:font typeface="페이퍼로지 3 Light" pitchFamily="2" charset="-127"/>
      <p:regular r:id="rId46"/>
    </p:embeddedFont>
    <p:embeddedFont>
      <p:font typeface="페이퍼로지 4 Regular" pitchFamily="2" charset="-127"/>
      <p:regular r:id="rId47"/>
    </p:embeddedFont>
    <p:embeddedFont>
      <p:font typeface="페이퍼로지 6 SemiBold" pitchFamily="2" charset="-127"/>
      <p:bold r:id="rId48"/>
    </p:embeddedFont>
    <p:embeddedFont>
      <p:font typeface="페이퍼로지 7 Bold" pitchFamily="2" charset="-127"/>
      <p:bold r:id="rId49"/>
    </p:embeddedFont>
    <p:embeddedFont>
      <p:font typeface="페이퍼로지 9 Black" pitchFamily="2" charset="-127"/>
      <p:bold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A18"/>
    <a:srgbClr val="9933FF"/>
    <a:srgbClr val="B07202"/>
    <a:srgbClr val="8F981A"/>
    <a:srgbClr val="009900"/>
    <a:srgbClr val="FFFFFF"/>
    <a:srgbClr val="8DB6FA"/>
    <a:srgbClr val="33CC33"/>
    <a:srgbClr val="92D05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96753-9D45-4FE6-9178-F3E63956B4D6}">
  <a:tblStyle styleId="{08D96753-9D45-4FE6-9178-F3E63956B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11" autoAdjust="0"/>
    <p:restoredTop sz="92092" autoAdjust="0"/>
  </p:normalViewPr>
  <p:slideViewPr>
    <p:cSldViewPr snapToGrid="0">
      <p:cViewPr varScale="1">
        <p:scale>
          <a:sx n="149" d="100"/>
          <a:sy n="149" d="100"/>
        </p:scale>
        <p:origin x="13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페이퍼로지 4 Regular" pitchFamily="2" charset="-127"/>
        <a:ea typeface="페이퍼로지 4 Regular" pitchFamily="2" charset="-127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1cdfcaf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71cdfcaf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77641A4-331F-F0DC-4B76-937B9904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2E9A4982-8B50-B353-7E87-2E38EC0B1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FCBCCD20-B2FC-B7D8-5F7C-E2B483EF3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900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DBE520-CDFC-E8C5-EEBD-C90BF4F0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55358D2-3B03-894F-00B1-0A5343485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84E2CFD-BA4C-F1A5-B72B-FFC3028F4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https://docs.google.com/drawings/d/1TuECFL9K7J5q5UePJLC-YH3satvb1RrjLRH-tW_VKeE/edit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6701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55C5227-C226-41B0-02F1-9DBE0939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DB79DD3-330A-6CE9-1FAE-25951D15F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0F0019E-859D-57BD-3DF3-9EA01F7E1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https://github.com/runassu/chrome_v20_decryption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5998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E740B62-E56A-0FF4-3A8C-25450E289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DC307A1-DBAD-6C11-C461-1D742A7D5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28DAE06-9109-C85A-B043-456AA637A8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https://chromium.googlesource.com/chromium/src/+/HEAD/mojo/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2616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EA82B40-F7CE-F01B-34D0-01AE9A0C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58E2F04-AF3B-962A-BD30-A8AB22D901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D09ECB6-97B7-4A88-EDFC-A9552614E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/>
              <a:t>기본적으로 </a:t>
            </a:r>
            <a:r>
              <a:rPr lang="en-US" altLang="ko-KR"/>
              <a:t>IUnknown</a:t>
            </a:r>
            <a:r>
              <a:rPr lang="ko-KR" altLang="en-US"/>
              <a:t>을 상속받아 </a:t>
            </a:r>
            <a:r>
              <a:rPr lang="en-US" altLang="ko-KR"/>
              <a:t>QueryInterface, AddRef, Release</a:t>
            </a:r>
            <a:r>
              <a:rPr lang="ko-KR" altLang="en-US"/>
              <a:t>를 구현해야 함</a:t>
            </a:r>
            <a:r>
              <a:rPr lang="en-US" altLang="ko-KR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RunIsolatedChrome: </a:t>
            </a:r>
            <a:r>
              <a:rPr lang="ko-KR" altLang="en-US"/>
              <a:t>브라우저를 시스템의 다른 프로세스와 완전히 격리된 환경에서 실행하기 위한 권한 상승 명령</a:t>
            </a:r>
            <a:endParaRPr lang="en-US" altLang="ko-K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AcceptInvitation: (</a:t>
            </a:r>
            <a:r>
              <a:rPr lang="ko-KR" altLang="en-US"/>
              <a:t>기업</a:t>
            </a:r>
            <a:r>
              <a:rPr lang="en-US" altLang="ko-KR"/>
              <a:t>, </a:t>
            </a:r>
            <a:r>
              <a:rPr lang="ko-KR" altLang="en-US"/>
              <a:t>공유 환경에서</a:t>
            </a:r>
            <a:r>
              <a:rPr lang="en-US" altLang="ko-KR"/>
              <a:t>)</a:t>
            </a:r>
            <a:r>
              <a:rPr lang="ko-KR" altLang="en-US"/>
              <a:t>특정 보안 정책이나 초대 설정을 적용할 때 사용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216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ABD30DF6-A24A-2289-D71A-768FE07B0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70B1D2BE-6FAC-5E27-969F-DC833EC9E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4AAAB81F-CF37-AD58-DB0B-039D417DBE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180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ED9E058A-60DB-91B0-C059-B8506338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B4263C2-C29D-7ADC-9329-9B496FCCC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16EFB1D-4672-F30C-B73D-7AE206FD3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https://chromium.googlesource.com/chromium/src/+/HEAD/mojo/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201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C9D5A33-9D72-D5EB-CB02-B908994C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2F07161-EE47-C6AE-3C50-1EFC4CF69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A22CB6A-653F-8ECF-B8BB-843D135DB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288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79841E5-7387-565D-40B6-1A4E0A3E3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D0E06BD1-7365-008C-17DB-48B97A12E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9E53E03C-A3DD-201D-1AF1-E9F3ECCF7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033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654B385-0755-1397-37F5-7A05193E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F62F200-F8FB-21B9-979E-FFEFEA20A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A911C68-CC9D-F030-8A57-6D8FA9E00B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https://chromium.googlesource.com/chromium/src/+/HEAD/chrome/elevation_service/elevator.cc#74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480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A960C6C-1B79-E0BA-D5EC-6477FBA52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775775C-2D03-C4C4-AC94-32FF0844A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533EB46-01F0-95D1-2C0F-9528C81BAC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https://chromium.googlesource.com/chromium/src/+/HEAD/chrome/elevation_service/elevator.cc#74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9462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F6EF1CB-FE2D-4E9B-B4B3-70B98CE38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1962E37-4BAD-245A-B152-BDEA20731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9F8BF98-A06D-EC92-698E-F32FD13FF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https://chromium.googlesource.com/chromium/src/+/HEAD/chrome/elevation_service/elevator.cc#74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86577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D28794C6-883A-6D16-B8B8-CEE7BE91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F4D839D-BD42-9299-26F4-81A6062F90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645452ED-2BE8-EAD8-FD0B-86E685314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https://chromium.googlesource.com/chromium/src/+/HEAD/chrome/elevation_service/elevator.cc#74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4863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BA3C7F33-97C6-FEBE-240B-1B6A31F1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A21D1FD2-1874-E654-9AD3-8FEE8D592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4313D45-BA0C-D855-E91B-095C73898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https://chromium.googlesource.com/chromium/src/+/HEAD/chrome/elevation_service/caller_validation.cc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1904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5DABD3C-285D-5F7A-3F89-521E2879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27E3FB0-FD73-F11A-001B-45381CE81A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256A7B8-D874-CA7F-56B1-95539AB35E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https://chromium.googlesource.com/chromium/src/+/HEAD/components/os_crypt/sync/os_crypt_win.cc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6150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5E41759-18ED-D2A3-809C-2314E8257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0A2C4EB-7E62-4D62-FF2F-2DA2112359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CC7201B-6246-20A5-BE32-7102D0A69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https://chromium.googlesource.com/chromium/src/+/HEAD/chrome/browser/os_crypt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96482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075708F6-27EC-86F8-6577-2CE2E2A9C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763E257-C348-8C14-FA21-7FE5C5FD8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A74EDB0F-3273-1D8B-1CCE-4E3F2EF66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968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1FBAD4E-95CB-0796-CE14-3EE3C429D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8A89E39B-ABA2-B254-062F-4355A4EA48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1475922C-AB8B-3262-046C-E3C0813B5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982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42E9C64B-CA61-5B6A-EF7C-9BA678F8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D0F5933-CD44-6737-B803-A4372E750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D0556E82-07EB-980D-494E-01A9C6B83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/>
              <a:t>https://chromium.googlesource.com/chromium/src/+/HEAD/chrome/browser/os_crypt/app_bound_encryption_win.cc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88800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4F6CB45-8757-E4D7-D8C3-963A45E0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7D17D8C-4EEE-0745-5A68-B423E26C2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5796869-3EDD-C72A-27A2-FEB27A424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https://chromium.googlesource.com/chromium/src/+/HEAD/chrome/browser/os_crypt/app_bound_encryption_win.cc</a:t>
            </a:r>
          </a:p>
        </p:txBody>
      </p:sp>
    </p:spTree>
    <p:extLst>
      <p:ext uri="{BB962C8B-B14F-4D97-AF65-F5344CB8AC3E}">
        <p14:creationId xmlns:p14="http://schemas.microsoft.com/office/powerpoint/2010/main" val="12310383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08C19C8-E2C9-3371-A41E-485759B6E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C73B7FC9-9CEC-BB8B-BA98-E188602B2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DA7D8FC-F619-87FA-85D0-DAEC83441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972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6A2A6BA7-FA4D-E781-A6AD-470243BA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660BF1F2-197A-A378-8C50-78B9B6DD01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0A86A326-4CCC-DE93-8F27-F7B26AC5A9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https://docs.google.com/drawings/d/1TuECFL9K7J5q5UePJLC-YH3satvb1RrjLRH-tW_VKeE/edit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5945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9E5EB40A-B964-89DD-5550-72CCF1EFB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419A2427-1DB7-E7BA-C02C-D7B268504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EB65A809-A6B4-FD0B-F977-E333D310D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360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5880F93-9E55-049A-7D41-0E90479E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BBA70776-2782-08B8-7DB2-5A169254B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88617F90-361A-E317-9A8B-B87FC42CD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56651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FFED12B8-58DA-2252-BEB6-9DBDA0CC3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E8A96AD2-C5CD-CEE2-2A3F-700B9A5F0E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19CA1D9-53B3-B0BB-1330-433C5FFA4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/>
              <a:t>키 유도</a:t>
            </a:r>
            <a:r>
              <a:rPr lang="en-US" altLang="ko-KR"/>
              <a:t>(local state </a:t>
            </a:r>
            <a:r>
              <a:rPr lang="ko-KR" altLang="en-US"/>
              <a:t>파일에서</a:t>
            </a:r>
            <a:r>
              <a:rPr lang="en-US" altLang="ko-KR"/>
              <a:t>)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ko-KR" altLang="en-US"/>
              <a:t>키 검증</a:t>
            </a:r>
            <a:r>
              <a:rPr lang="en-US" altLang="ko-KR"/>
              <a:t>(</a:t>
            </a:r>
            <a:r>
              <a:rPr lang="ko-KR" altLang="en-US"/>
              <a:t>시스템 레벨인지</a:t>
            </a:r>
            <a:r>
              <a:rPr lang="en-US" altLang="ko-KR"/>
              <a:t>) </a:t>
            </a:r>
            <a:r>
              <a:rPr lang="ko-KR" altLang="en-US"/>
              <a:t>및 처리</a:t>
            </a:r>
            <a:r>
              <a:rPr lang="en-US" altLang="ko-KR"/>
              <a:t>(prefix </a:t>
            </a:r>
            <a:r>
              <a:rPr lang="ko-KR" altLang="en-US"/>
              <a:t>처리</a:t>
            </a:r>
            <a:r>
              <a:rPr lang="en-US" altLang="ko-KR"/>
              <a:t>: APPB)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03376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53AC2698-808A-B32D-B44D-E11AF00F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18E22E53-7D8F-7199-DC9D-9F353F67A2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B128456F-9B9C-886E-CA1E-44C9F35FB1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83677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756DA7B9-10BA-B7FB-0265-EAA1D3B7B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005251B8-91D5-CF1B-AC1D-40A2914BD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56227993-8747-BB2D-34FE-886A96DCA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147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CD5B4AF7-37E0-5F83-6021-28CF4BB9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4fced8951_0_265:notes">
            <a:extLst>
              <a:ext uri="{FF2B5EF4-FFF2-40B4-BE49-F238E27FC236}">
                <a16:creationId xmlns:a16="http://schemas.microsoft.com/office/drawing/2014/main" id="{5CF39356-3DE2-1E00-621B-06C8AF3E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4fced8951_0_265:notes">
            <a:extLst>
              <a:ext uri="{FF2B5EF4-FFF2-40B4-BE49-F238E27FC236}">
                <a16:creationId xmlns:a16="http://schemas.microsoft.com/office/drawing/2014/main" id="{362E4C3C-86C2-BB6A-8AEA-563CF64F0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667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5775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5775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  <a:cs typeface="페이퍼로지 6 SemiBold" pitchFamily="2" charset="-127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6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페이퍼로지 6 SemiBold" pitchFamily="2" charset="-127"/>
                <a:ea typeface="페이퍼로지 6 SemiBold" pitchFamily="2" charset="-127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빈 화면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TITLE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맑은 고딕"/>
              <a:buNone/>
              <a:defRPr sz="4500">
                <a:latin typeface="페이퍼로지 6 SemiBold" pitchFamily="2" charset="-127"/>
                <a:ea typeface="페이퍼로지 6 SemiBold" pitchFamily="2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r>
              <a:rPr lang="ko-KR" altLang="en-US"/>
              <a:t>마스터 제목 스타일 편집</a:t>
            </a:r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4" name="Google Shape;4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 lang="ko-KR" altLang="en-US"/>
          </a:p>
        </p:txBody>
      </p:sp>
      <p:sp>
        <p:nvSpPr>
          <p:cNvPr id="45" name="Google Shape;4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latin typeface="페이퍼로지 4 Regular" pitchFamily="2" charset="-127"/>
                <a:ea typeface="페이퍼로지 4 Regular" pitchFamily="2" charset="-127"/>
              </a:defRPr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페이퍼로지 6 SemiBold" pitchFamily="2" charset="-127"/>
          <a:ea typeface="페이퍼로지 6 SemiBold" pitchFamily="2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ctrTitle"/>
          </p:nvPr>
        </p:nvSpPr>
        <p:spPr>
          <a:xfrm>
            <a:off x="737884" y="1792800"/>
            <a:ext cx="7668232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 Technical Deep Dive into </a:t>
            </a:r>
            <a:br>
              <a:rPr lang="en-US" sz="2800"/>
            </a:br>
            <a:br>
              <a:rPr lang="en-US" sz="2800"/>
            </a:br>
            <a:r>
              <a:rPr lang="en-US" sz="2800"/>
              <a:t>Chrome’s password_value Encryption</a:t>
            </a:r>
            <a:endParaRPr sz="2800" dirty="0">
              <a:latin typeface="페이퍼로지 6 SemiBold" pitchFamily="2" charset="-127"/>
              <a:ea typeface="페이퍼로지 6 SemiBold" pitchFamily="2" charset="-127"/>
            </a:endParaRPr>
          </a:p>
        </p:txBody>
      </p:sp>
      <p:grpSp>
        <p:nvGrpSpPr>
          <p:cNvPr id="67" name="Google Shape;67;p17"/>
          <p:cNvGrpSpPr/>
          <p:nvPr/>
        </p:nvGrpSpPr>
        <p:grpSpPr>
          <a:xfrm>
            <a:off x="6663079" y="991363"/>
            <a:ext cx="353630" cy="378892"/>
            <a:chOff x="4149138" y="4121151"/>
            <a:chExt cx="344065" cy="368644"/>
          </a:xfrm>
        </p:grpSpPr>
        <p:sp>
          <p:nvSpPr>
            <p:cNvPr id="68" name="Google Shape;68;p17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49B52D-4AC4-D039-D3E5-FB82F8CEF825}"/>
              </a:ext>
            </a:extLst>
          </p:cNvPr>
          <p:cNvSpPr txBox="1"/>
          <p:nvPr/>
        </p:nvSpPr>
        <p:spPr>
          <a:xfrm>
            <a:off x="7326092" y="4681835"/>
            <a:ext cx="181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20200451 </a:t>
            </a:r>
          </a:p>
          <a:p>
            <a:pPr algn="r"/>
            <a:r>
              <a:rPr lang="ko-KR" altLang="en-US" sz="800" dirty="0">
                <a:latin typeface="페이퍼로지 1 Thin" pitchFamily="2" charset="-127"/>
                <a:ea typeface="페이퍼로지 1 Thin" pitchFamily="2" charset="-127"/>
              </a:rPr>
              <a:t>박세원</a:t>
            </a:r>
            <a:endParaRPr lang="en-US" altLang="ko-KR" sz="800" dirty="0">
              <a:latin typeface="페이퍼로지 1 Thin" pitchFamily="2" charset="-127"/>
              <a:ea typeface="페이퍼로지 1 Thin" pitchFamily="2" charset="-127"/>
            </a:endParaRPr>
          </a:p>
          <a:p>
            <a:pPr algn="r"/>
            <a:r>
              <a:rPr lang="en-US" altLang="ko-KR" sz="800" dirty="0">
                <a:latin typeface="페이퍼로지 1 Thin" pitchFamily="2" charset="-127"/>
                <a:ea typeface="페이퍼로지 1 Thin" pitchFamily="2" charset="-127"/>
              </a:rPr>
              <a:t>System Software Lab</a:t>
            </a:r>
            <a:r>
              <a:rPr lang="en-US" altLang="ko-KR" sz="8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FB4EE057-A625-8EDA-F9A3-1A1B1190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8D9E463-A1E3-BD5B-3714-9743D00013A8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Security Architecture (brief)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멀티 프로세스 모델과 권한 분리 원칙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보호의 진화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“ v10 ~ v20 ”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Infostealer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대응을 위한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도입 배경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버전별 암호화 알고리즘 및 구조 변화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핵심 통신 매커니즘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COM Interface (IElevator, IElevator2)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및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Vtable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분석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차세대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Mojo IPC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도입 이유와 특징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6213" lvl="2">
              <a:buSzPts val="1600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Password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프로세스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(Step-by-Step) 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통한 권한 상승 및 경로 검증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(ValidatePath) </a:t>
            </a: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AES-256-GCM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및 최종 비밀번호 산출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App-Bound Encryption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상세 분석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AppBoundEncryptionProviderWin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역할과 구조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41338" lvl="6" indent="-182563">
              <a:buClr>
                <a:srgbClr val="9933FF"/>
              </a:buClr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MasterKey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추출 및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Magic Header (APPB)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처리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이중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(SYSTEM + USER)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계층화 원리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(rewind)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4EF0E6C8-922A-455C-A37E-81DE2FE286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D601D7A-84B1-D493-47B2-8D1B152CF41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09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4ACEF20-67BF-C1EF-810A-AB2F4435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3B6B331-BFD3-43AA-16E7-0F49E57F059F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AFE6C03-798D-CD87-1C91-C47CCD364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Chrome Security Architecture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9182BB-CE65-7A7F-D6FF-F08D370ACE5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스크린샷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742259-C860-DD9E-548E-2512B7423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363" y="835502"/>
            <a:ext cx="5556181" cy="418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9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03373FFB-DDCD-6DFA-3478-E486442F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67166F68-C329-8CC4-B936-FF04E5B0166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</a:t>
            </a:r>
            <a:r>
              <a:rPr lang="ko-KR" altLang="en-US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보호의 진화</a:t>
            </a:r>
            <a:r>
              <a:rPr lang="en-US" altLang="ko-KR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" v10 ~ v20 "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</a:t>
            </a:r>
            <a:r>
              <a:rPr lang="en-US" altLang="ko-KR" sz="16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v127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이후 핵심은 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en-US" altLang="ko-KR" sz="1600" b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1000" b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600" b="1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*elevation_service.exe** 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별도의 권한 상승 서비스를 사용한다</a:t>
            </a:r>
            <a: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+ </a:t>
            </a:r>
            <a:r>
              <a:rPr lang="en-US" altLang="ko-KR" sz="16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v20 </a:t>
            </a:r>
            <a:r>
              <a:rPr lang="ko-KR" altLang="en-US" sz="16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도입</a:t>
            </a:r>
            <a:b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이중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rewind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en-US" altLang="ko-KR" b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app_bound_encrypted_key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 DPAPI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암호화 된 후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다시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</a:t>
            </a:r>
          </a:p>
          <a:p>
            <a:pPr lvl="3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                      DPAPI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암호화 되어 저장된다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버전 별 특징</a:t>
            </a:r>
            <a:br>
              <a:rPr lang="en-US" altLang="ko-KR" sz="16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133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ChaCha20_Poly1305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알고리즘을 사용하며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복호화에 필요한 키가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9388" lvl="2" indent="-179388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                                  elevation_service.exe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하드코딩 되어 있다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en-US" altLang="ko-KR">
                <a:solidFill>
                  <a:srgbClr val="00B05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137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다시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AES-256-GCM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복귀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고착화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9388" lvl="2" indent="-179388">
              <a:buSzPts val="1600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버전 차이 핵심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v10 ” : Not using elevation service + USER DPAPI only( ~ v126 )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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단순 사용자 인증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v20 ” : Use the elevation service to use SYSTEM previlege + SYSTEM/USER DPAPI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C22CA270-7B15-6DCA-2AFB-52898B1AD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Chrome changes by version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C85C9EA-C9B1-D9BF-AEF4-1F9E809C7F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562805CF-F74C-00C4-0080-E1E9AB942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276" y="2292017"/>
            <a:ext cx="2964946" cy="688413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DBDE30B-2DFD-691B-7F67-7ADAAA4E1FA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823353" y="2292017"/>
            <a:ext cx="556923" cy="344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46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4DB5B32-F638-B706-1E2A-09CAA2B2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B917E7A2-7574-B0FA-AA08-651FB7ACCB9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 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도입 배경 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??</a:t>
            </a:r>
            <a: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2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원래 있었음</a:t>
            </a:r>
            <a: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Chrome Update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구성 요소가 망가졌을 시에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권한으로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Recovery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하는 것이었음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”</a:t>
            </a:r>
          </a:p>
          <a:p>
            <a:pPr lvl="2" algn="ctr">
              <a:buSzPts val="1600"/>
            </a:pPr>
            <a:endParaRPr lang="en-US" altLang="ko-KR" sz="600" i="1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r>
              <a:rPr lang="en-US" altLang="ko-KR" sz="10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PATH: "C:\Program Files\Google\Chrome\Application\147.0.7727.138\elevation_service.exe"</a:t>
            </a:r>
          </a:p>
          <a:p>
            <a:pPr lvl="2" algn="ctr">
              <a:buSzPts val="1600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 algn="ctr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65113" lvl="3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Infostealer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대응 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88900" lvl="2">
              <a:buSzPts val="1600"/>
            </a:pP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"""</a:t>
            </a:r>
          </a:p>
          <a:p>
            <a:pPr marL="179388" lvl="2">
              <a:buSzPts val="1600"/>
            </a:pP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레거시에서는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Infostealer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권한만으로 너무 쉽게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PW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풀어버리니까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v127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부터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v20 ”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도입과 함께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개조해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IElvator COM Interface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통한 이중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DPAPI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계층과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Path Validation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로직이 추가</a:t>
            </a:r>
            <a:endParaRPr lang="en-US" altLang="ko-KR">
              <a:solidFill>
                <a:schemeClr val="accent1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9388" lvl="2">
              <a:buSzPts val="1600"/>
            </a:pPr>
            <a:endParaRPr lang="en-US" altLang="ko-KR">
              <a:solidFill>
                <a:schemeClr val="accent1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65138" lvl="2" indent="-285750">
              <a:buSzPts val="1600"/>
              <a:buFontTx/>
              <a:buChar char="-"/>
            </a:pP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Infostealer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권한이면 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권한의 영역은 접근 불가 </a:t>
            </a:r>
            <a:endParaRPr lang="en-US" altLang="ko-KR">
              <a:solidFill>
                <a:schemeClr val="accent1">
                  <a:lumMod val="50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65138" lvl="2" indent="-285750">
              <a:buSzPts val="1600"/>
              <a:buFontTx/>
              <a:buChar char="-"/>
            </a:pP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SYSTEM </a:t>
            </a:r>
            <a:r>
              <a:rPr lang="ko-KR" altLang="en-US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권한이면 유감이고</a:t>
            </a: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85725" lvl="2">
              <a:buSzPts val="1600"/>
            </a:pPr>
            <a:r>
              <a:rPr lang="en-US" altLang="ko-KR">
                <a:solidFill>
                  <a:schemeClr val="accent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"""</a:t>
            </a:r>
          </a:p>
          <a:p>
            <a:pPr marL="85725" lvl="2" indent="-85725">
              <a:buSzPts val="1600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---------------------------------------------------------------------------------------------------------------------------</a:t>
            </a: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Q1.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*&gt;*IElevator2** ??</a:t>
            </a: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---------------------------------------------------------------------------------------------------------------------------</a:t>
            </a: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Q2.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통신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COM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방식에서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chromium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차세대 내부 통신망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*&gt;&gt;*Mojo IPC**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교체 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---------------------------------------------------------------------------------------------------------------------------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3C80620-A39F-1603-9A2A-6F59904F5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/>
              <a:t>elevation_service.exe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CB7AF26-0D7C-5037-61CE-F3B292D07CC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0A6D57B7-5CAE-AF58-C23D-C9DD6787F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099" y="1807160"/>
            <a:ext cx="1705213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3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D5ADDD14-A783-0505-C71F-C187B6FA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C40490F-33E3-61BF-A835-52E5133CE7D5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COM Interface (IElevator, IElevator2) 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및 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Vtable 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분석</a:t>
            </a:r>
            <a:endParaRPr lang="en-US" altLang="ko-KR" sz="18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 v144 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이후  </a:t>
            </a: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8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 v20 </a:t>
            </a:r>
            <a:r>
              <a:rPr lang="ko-KR" altLang="en-US" sz="18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도입</a:t>
            </a:r>
            <a:r>
              <a:rPr lang="en-US" altLang="ko-KR" sz="10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(v127)</a:t>
            </a:r>
            <a:r>
              <a:rPr lang="ko-KR" altLang="en-US" sz="18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후 발전 </a:t>
            </a:r>
            <a:r>
              <a:rPr lang="en-US" altLang="ko-KR" sz="18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endParaRPr lang="en-US" altLang="ko-KR" sz="1800" dirty="0">
              <a:solidFill>
                <a:srgbClr val="9933FF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72EAD5DE-2899-CB36-D844-AB87601DB7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COM Interface </a:t>
            </a:r>
            <a:r>
              <a:rPr lang="en" altLang="ko-KR" sz="1800">
                <a:latin typeface="페이퍼로지 6 SemiBold" pitchFamily="2" charset="-127"/>
                <a:ea typeface="페이퍼로지 6 SemiBold" pitchFamily="2" charset="-127"/>
              </a:rPr>
              <a:t>(diff. 1, 2)</a:t>
            </a:r>
            <a:endParaRPr sz="18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8D46AC8-4A26-DC1C-90F0-17C420CF6AF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5832F6-A315-7811-4C8B-43B63F5BE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798504"/>
              </p:ext>
            </p:extLst>
          </p:nvPr>
        </p:nvGraphicFramePr>
        <p:xfrm>
          <a:off x="692728" y="1841529"/>
          <a:ext cx="7671955" cy="2682240"/>
        </p:xfrm>
        <a:graphic>
          <a:graphicData uri="http://schemas.openxmlformats.org/drawingml/2006/table">
            <a:tbl>
              <a:tblPr firstRow="1" bandRow="1">
                <a:tableStyleId>{08D96753-9D45-4FE6-9178-F3E63956B4D6}</a:tableStyleId>
              </a:tblPr>
              <a:tblGrid>
                <a:gridCol w="897081">
                  <a:extLst>
                    <a:ext uri="{9D8B030D-6E8A-4147-A177-3AD203B41FA5}">
                      <a16:colId xmlns:a16="http://schemas.microsoft.com/office/drawing/2014/main" val="586688733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280542278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57280140"/>
                    </a:ext>
                  </a:extLst>
                </a:gridCol>
                <a:gridCol w="2192482">
                  <a:extLst>
                    <a:ext uri="{9D8B030D-6E8A-4147-A177-3AD203B41FA5}">
                      <a16:colId xmlns:a16="http://schemas.microsoft.com/office/drawing/2014/main" val="1789332456"/>
                    </a:ext>
                  </a:extLst>
                </a:gridCol>
                <a:gridCol w="1028701">
                  <a:extLst>
                    <a:ext uri="{9D8B030D-6E8A-4147-A177-3AD203B41FA5}">
                      <a16:colId xmlns:a16="http://schemas.microsoft.com/office/drawing/2014/main" val="2261184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Vtable 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Offset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IElevator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(v127 - 143)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IElevator2</a:t>
                      </a:r>
                      <a:r>
                        <a:rPr lang="en-US" altLang="ko-KR" sz="800">
                          <a:latin typeface="페이퍼로지 3 Light" pitchFamily="2" charset="-127"/>
                          <a:ea typeface="페이퍼로지 3 Light" pitchFamily="2" charset="-127"/>
                        </a:rPr>
                        <a:t>(v144 - )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Note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763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0 - 2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0 ~ 16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IUnknown(QueryInterface, AddRef, Release)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IUnknown(</a:t>
                      </a:r>
                      <a:r>
                        <a:rPr lang="ko-KR" altLang="en-US" sz="1200">
                          <a:latin typeface="페이퍼로지 3 Light" pitchFamily="2" charset="-127"/>
                          <a:ea typeface="페이퍼로지 3 Light" pitchFamily="2" charset="-127"/>
                        </a:rPr>
                        <a:t>동일</a:t>
                      </a:r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)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COM </a:t>
                      </a:r>
                      <a:r>
                        <a:rPr lang="ko-KR" altLang="en-US" sz="1200">
                          <a:latin typeface="페이퍼로지 3 Light" pitchFamily="2" charset="-127"/>
                          <a:ea typeface="페이퍼로지 3 Light" pitchFamily="2" charset="-127"/>
                        </a:rPr>
                        <a:t>기본 구현 함수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90947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3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24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RunRecoveryCRXElevated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RunRecoveryCRXElevated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==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71559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4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32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EncryptData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EncryptData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==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8711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5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40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DecryptData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DecryptData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==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2464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6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48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*RunIsolatedChrome*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New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587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Slot 7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56 byte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*AcceptInvitation*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페이퍼로지 3 Light" pitchFamily="2" charset="-127"/>
                          <a:ea typeface="페이퍼로지 3 Light" pitchFamily="2" charset="-127"/>
                        </a:rPr>
                        <a:t>New </a:t>
                      </a:r>
                      <a:endParaRPr lang="ko-KR" altLang="en-US" sz="1200">
                        <a:latin typeface="페이퍼로지 3 Light" pitchFamily="2" charset="-127"/>
                        <a:ea typeface="페이퍼로지 3 Light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84858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410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C98F3DE-358C-1B3E-7456-F58566CD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F33B82D-023D-8908-CE81-A1922059AF8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diff. IElevator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  <a:r>
              <a:rPr lang="ko-KR" altLang="en-US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추가된 함수 </a:t>
            </a: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D4F6DEE-BFB7-9829-7681-41B832E9B4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COM Interface </a:t>
            </a:r>
            <a:r>
              <a:rPr lang="en" altLang="ko-KR" sz="1800">
                <a:latin typeface="페이퍼로지 6 SemiBold" pitchFamily="2" charset="-127"/>
                <a:ea typeface="페이퍼로지 6 SemiBold" pitchFamily="2" charset="-127"/>
              </a:rPr>
              <a:t>(IElevator2)</a:t>
            </a:r>
            <a:endParaRPr sz="18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11DC94-662E-D03E-C822-1B400E4951F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7F52AAE-34B2-D7E4-9EFB-3C2D5B4E4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634" y="1704135"/>
            <a:ext cx="5674732" cy="249982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B7360B5-C8BB-96E4-4D48-76A1DD737C4F}"/>
              </a:ext>
            </a:extLst>
          </p:cNvPr>
          <p:cNvSpPr/>
          <p:nvPr/>
        </p:nvSpPr>
        <p:spPr>
          <a:xfrm>
            <a:off x="3943350" y="2307431"/>
            <a:ext cx="1293019" cy="192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69EA0A-51F2-36D9-A359-5F23A27D3698}"/>
              </a:ext>
            </a:extLst>
          </p:cNvPr>
          <p:cNvSpPr/>
          <p:nvPr/>
        </p:nvSpPr>
        <p:spPr>
          <a:xfrm>
            <a:off x="3943351" y="3417093"/>
            <a:ext cx="1207294" cy="192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32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593526D0-361E-040D-CDF4-D5EB810A7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1DB9DF2-26B3-A1FE-0F86-29864779B3DF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Mojo IPC ?? </a:t>
            </a:r>
            <a:r>
              <a:rPr lang="en-US" altLang="ko-KR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Inter-Process Communication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Why needed IPC...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271463" lvl="2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은 대부분의 프로세스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렌더러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GPU...)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'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페이퍼로지 4 Regular" charset="-127"/>
                <a:ea typeface="페이퍼로지 4 Regular" charset="-127"/>
                <a:sym typeface="Montserrat SemiBold"/>
              </a:rPr>
              <a:t>Sandbox'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안에 가둬두는데 이것 때문에 프로세스들은 마음대로 다른 프로세스에 연결해서 소켓을 주고 받을 수 없다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이를 위해서 </a:t>
            </a:r>
            <a:r>
              <a:rPr lang="en-US" altLang="ko-KR" sz="1200">
                <a:solidFill>
                  <a:schemeClr val="bg1"/>
                </a:solidFill>
                <a:highlight>
                  <a:srgbClr val="FF0000"/>
                </a:highlight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'Broker'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놈이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IPC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중개자 역할 수행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" </a:t>
            </a:r>
            <a:r>
              <a:rPr lang="en-US" altLang="ko-KR" sz="10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0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프로세스의 요청을 받아 대신 처리</a:t>
            </a:r>
            <a:r>
              <a:rPr lang="en-US" altLang="ko-KR" sz="10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Mojo: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프로세스 간 통신을 담당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6213" lvl="2">
              <a:buSzPts val="1600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#define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플랫폼 독립적 추상화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메시지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IDL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형식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여러 대상 언어에 대한 코드 생성 기능을 갖춘 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6213" lvl="2">
              <a:buSzPts val="1600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              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바인딩 라이브러리를 제공하는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Runtime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라이브러리 모음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3538" lvl="2" indent="-187325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공유 메모리 버퍼 기능도 제공 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*protobuf*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 놈도 있는데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fd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는 전송이 안돼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..!</a:t>
            </a:r>
            <a:endParaRPr lang="en-US" altLang="ko-KR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055314D4-7E6D-71C7-CFB7-AE986E70C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Mojo IPC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0D664DA-E9BB-06E5-1AF4-062CB6697941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C4B921-624F-DB00-7285-F12EED0A0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77" y="2954049"/>
            <a:ext cx="3185796" cy="17145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07F98B-A6E6-96F6-BB7D-958EEEC5B228}"/>
              </a:ext>
            </a:extLst>
          </p:cNvPr>
          <p:cNvSpPr txBox="1"/>
          <p:nvPr/>
        </p:nvSpPr>
        <p:spPr>
          <a:xfrm>
            <a:off x="387275" y="4928056"/>
            <a:ext cx="7124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protobuf: Data serialization format (Can explanin to JSON,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XML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binary</a:t>
            </a:r>
            <a:r>
              <a:rPr lang="ko-KR" altLang="en-US" sz="800">
                <a:latin typeface="페이퍼로지 1 Thin" pitchFamily="2" charset="-127"/>
                <a:ea typeface="페이퍼로지 1 Thin" pitchFamily="2" charset="-127"/>
              </a:rPr>
              <a:t>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version…) + .Need to define proto scheme (e.g. </a:t>
            </a:r>
            <a:r>
              <a:rPr lang="en-US" altLang="ko-KR" sz="800" b="1" i="1">
                <a:latin typeface="페이퍼로지 1 Thin" pitchFamily="2" charset="-127"/>
                <a:ea typeface="페이퍼로지 1 Thin" pitchFamily="2" charset="-127"/>
              </a:rPr>
              <a:t>.proto </a:t>
            </a:r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11418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AFA6EFD-89A5-C7F3-39B6-81AE245E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51346DF-9C2E-97D3-5ACE-BAD25F81AEE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Mojo IPC</a:t>
            </a:r>
            <a:r>
              <a:rPr lang="ko-KR" altLang="en-US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도입 이유와 특징</a:t>
            </a:r>
            <a:endParaRPr lang="en-US" altLang="ko-KR" sz="18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2" indent="-276225">
              <a:buSzPts val="1600"/>
              <a:buAutoNum type="arabicPeriod"/>
            </a:pP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Cross-platform: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윈도우 전용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 달리 모든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에서 작동</a:t>
            </a: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3" indent="-276225">
              <a:buSzPts val="1600"/>
            </a:pP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2" indent="-276225">
              <a:buSzPts val="1600"/>
              <a:buAutoNum type="arabicPeriod"/>
            </a:pP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Sandbox-friendly: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권한이 제한된 샌드박스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Proc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간 통신에 최적화</a:t>
            </a: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3" indent="-276225">
              <a:buSzPts val="1600"/>
            </a:pPr>
            <a:endParaRPr lang="en-US" altLang="ko-KR" sz="1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452438" lvl="2" indent="-276225">
              <a:buSzPts val="1600"/>
              <a:buAutoNum type="arabicPeriod"/>
            </a:pP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Efficiency: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기존 방식보다 효율적인 리소스 및 </a:t>
            </a:r>
            <a:r>
              <a:rPr lang="en-US" altLang="ko-KR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FD </a:t>
            </a:r>
            <a:r>
              <a:rPr lang="ko-KR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전송 가능</a:t>
            </a:r>
            <a:endParaRPr lang="en-US" altLang="ko-KR" sz="1800" dirty="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5B3FC01-EA4A-02CD-6276-EC62D12CD6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Mojo IPC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46D01E3-C979-42AA-877E-02BDAD8431AB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64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FA7B48A-AF8D-103B-693C-8FABB8EE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4A9ADDB-49B6-20F0-272A-982F20380EA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brief. Decrypt</a:t>
            </a:r>
            <a:r>
              <a:rPr lang="ko-KR" altLang="en-US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위한 단계</a:t>
            </a:r>
            <a:endParaRPr lang="en-US" altLang="ko-KR" sz="16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App-Bound Encrypted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Key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추출 및 식별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Local State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파일의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os_crypt.app_bound_encrypted_key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값 추출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특징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Base64 encoded, “ APPB ” 4 byte Magic Header prefix (Need to Pre-processing)</a:t>
            </a:r>
          </a:p>
          <a:p>
            <a:pPr marL="342900" lvl="2" indent="-342900">
              <a:buSzPts val="1600"/>
              <a:buAutoNum type="arabicPeriod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이용한 키 복호화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(COM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상호작용 기준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풀기 위해서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와 통신해야 하고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그를 위해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 이용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1.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인터페이스 호출 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2. DecryptData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메서드 실행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과정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3.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 검증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결과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AES 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획득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 indent="542925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AES Key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BLOB </a:t>
            </a:r>
          </a:p>
          <a:p>
            <a:pPr lvl="4">
              <a:buSzPts val="1600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</a:t>
            </a: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AES-256-GCM </a:t>
            </a:r>
            <a:r>
              <a:rPr lang="ko-KR" altLang="en-US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적용 및 비밀번호 산출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AES Key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복호화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연산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Nonce(12 byte) + ciphertext (var)+ Tag(16 byte)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사용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AES-GCM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특성에 따라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Tag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일치하면 데이터의 무결성이 확인되고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		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성공적으로 복호화된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비밀번호를 알 수 있게 된다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 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12B1E83D-1D46-73B0-058B-1C67AA2523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App-Bound En/Decryption Details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7CF54AC-52F4-8855-D17B-E93978B2CD2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D168AE0E-CDD4-1042-0C35-67FCFB7F2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393" y="804949"/>
            <a:ext cx="3536446" cy="821106"/>
          </a:xfrm>
          <a:prstGeom prst="rect">
            <a:avLst/>
          </a:prstGeom>
        </p:spPr>
      </p:pic>
      <p:pic>
        <p:nvPicPr>
          <p:cNvPr id="8" name="그래픽 7" descr="열린 자물쇠 단색으로 채워진">
            <a:extLst>
              <a:ext uri="{FF2B5EF4-FFF2-40B4-BE49-F238E27FC236}">
                <a16:creationId xmlns:a16="http://schemas.microsoft.com/office/drawing/2014/main" id="{E701BD11-1B9C-ED7F-8A67-B3D161BEFB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9370" y="3471637"/>
            <a:ext cx="265792" cy="2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35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D538FA2-B9F7-F698-B2DB-D8EFE8A8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95226B63-5B7F-7F11-A62E-1475F9EDE60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elevation_service/elevator.cc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EncryptData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암호화 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“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어떤 프로세스가 데이터를 암호화했는가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같이 저장 </a:t>
            </a:r>
            <a:endParaRPr lang="en-US" altLang="ko-KR" sz="1200" i="1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DecryptData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복호화 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“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암호화했던 그 프로세스와 일치하는가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확인 </a:t>
            </a:r>
            <a:endParaRPr lang="en-US" altLang="ko-KR" sz="1200" i="1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RunRecovery**CRX**Elvated 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관리자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시스템 권한으로 복구 프로세스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(RunChromeRecoveryCRX)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실행할 수 있는 통로 제공 </a:t>
            </a:r>
            <a:endParaRPr lang="en-US" altLang="ko-KR" sz="1200" i="1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6075" lvl="2" indent="-171450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RunIsolatedChrome (More Advanced security policy.. than init version “ v20 ”)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kIsolated 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스위치를 붙여 외부 간섭을 차단한 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chrome.exe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실행 후 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hProc 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전달</a:t>
            </a:r>
            <a:endParaRPr lang="en-US" altLang="ko-KR" sz="1200" i="1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82563" lvl="2" indent="-182563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elevation_service/caller_validation.cc </a:t>
            </a:r>
          </a:p>
          <a:p>
            <a:pPr marL="182563" lvl="2" indent="-18256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GenerateValidationData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검증 데이터 생성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{caller Proc .exe abs.path, ProtectionLevel}</a:t>
            </a: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ValidateData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검증 분기 처리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(switch)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Call ValidatePath</a:t>
            </a:r>
          </a:p>
          <a:p>
            <a:pPr marL="358775" lvl="2" indent="-176213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8775" lvl="2" indent="-176213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ValidatePath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경로 대조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(App-Bound </a:t>
            </a:r>
            <a:r>
              <a:rPr lang="ko-KR" altLang="en-US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강제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1200" i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r>
              <a:rPr lang="ko-KR" altLang="en-US" sz="12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복호화 요청 </a:t>
            </a:r>
            <a:r>
              <a:rPr lang="en-US" altLang="ko-KR" sz="12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hProc</a:t>
            </a:r>
            <a:r>
              <a:rPr lang="ko-KR" altLang="en-US" sz="12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를 이용해 실행중인 프로세스에 </a:t>
            </a:r>
            <a:r>
              <a:rPr lang="en-US" altLang="ko-KR" sz="12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QueryFullProcessImageName</a:t>
            </a:r>
            <a:r>
              <a:rPr lang="ko-KR" altLang="en-US" sz="1200" u="sng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 </a:t>
            </a:r>
            <a:endParaRPr lang="en-US" altLang="ko-KR" sz="1200" u="sng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CF4AE67-E3E5-0702-2B4D-53CD1F5AF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` v20 ` chrome/elevation_service/...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6D8F52-0BCE-3F86-F325-3E9B6845A595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3E886D-FF0E-19A1-212F-C04AEDF29C4D}"/>
              </a:ext>
            </a:extLst>
          </p:cNvPr>
          <p:cNvSpPr txBox="1"/>
          <p:nvPr/>
        </p:nvSpPr>
        <p:spPr>
          <a:xfrm>
            <a:off x="387275" y="4928056"/>
            <a:ext cx="7124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1 Thin" pitchFamily="2" charset="-127"/>
                <a:ea typeface="페이퍼로지 1 Thin" pitchFamily="2" charset="-127"/>
              </a:rPr>
              <a:t>CRX: ChRome eXtension .crx</a:t>
            </a:r>
          </a:p>
        </p:txBody>
      </p:sp>
    </p:spTree>
    <p:extLst>
      <p:ext uri="{BB962C8B-B14F-4D97-AF65-F5344CB8AC3E}">
        <p14:creationId xmlns:p14="http://schemas.microsoft.com/office/powerpoint/2010/main" val="98034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860EB33-C9F1-C441-5DDC-6AF3B94D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A164F95-FC84-4DDC-ACFB-5476E1B53628}"/>
              </a:ext>
            </a:extLst>
          </p:cNvPr>
          <p:cNvSpPr txBox="1"/>
          <p:nvPr/>
        </p:nvSpPr>
        <p:spPr>
          <a:xfrm flipH="1">
            <a:off x="387275" y="896215"/>
            <a:ext cx="4633800" cy="294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chromium/src/+/HEAD/chrome/elevation_service/elevator.cc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EncryptData 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impersonate: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사칭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(impersonation)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을 수행하는 객체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 calling_process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에 담아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GenerateValidationData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호출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식별 정보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생성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)</a:t>
            </a: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 elevation_service.exe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가 자신을 호출한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chrome.exe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의  권한을 일시적으로 빌려 쓰는 것을 의미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&gt;&gt; Why?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elevation_service.exe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는 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SYSTEM 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권한으로 실행</a:t>
            </a:r>
            <a:b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chrome.exe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의 권한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(USER)</a:t>
            </a:r>
            <a:r>
              <a:rPr lang="ko-KR" altLang="en-US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을 빌려 써야 함</a:t>
            </a:r>
            <a:r>
              <a:rPr lang="en-US" altLang="ko-KR" sz="1000">
                <a:solidFill>
                  <a:srgbClr val="FF0000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.</a:t>
            </a:r>
            <a:endParaRPr lang="en-US" altLang="ko-KR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validation_data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암호화할 데이터에 암호화하는 프로세스에 대한 정보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,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평문 값을 이어 붙임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...</a:t>
            </a: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                                          AppendStringWithLength(data,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data_to_encrypt);</a:t>
            </a: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8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     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&gt;&gt;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후에 복호화하는 프로세스를 대조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다르면 안되겠징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..)</a:t>
            </a:r>
          </a:p>
          <a:p>
            <a:pPr lvl="2">
              <a:buSzPts val="1600"/>
            </a:pPr>
            <a:endParaRPr lang="en-US" altLang="ko-KR" sz="10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 typeface="Wingdings" panose="05000000000000000000" pitchFamily="2" charset="2"/>
              <a:buChar char="ü"/>
            </a:pPr>
            <a:r>
              <a:rPr lang="en-US" altLang="ko-KR" sz="1000">
                <a:solidFill>
                  <a:schemeClr val="dk1"/>
                </a:solidFill>
                <a:highlight>
                  <a:srgbClr val="FFFF00"/>
                </a:highlight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DPAPI </a:t>
            </a:r>
            <a:r>
              <a:rPr lang="en-US" altLang="ko-KR" sz="1000">
                <a:solidFill>
                  <a:schemeClr val="dk1"/>
                </a:solidFill>
                <a:highlight>
                  <a:srgbClr val="FFFF00"/>
                </a:highlight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</a:t>
            </a:r>
            <a:r>
              <a:rPr lang="en-US" altLang="ko-KR" sz="1000">
                <a:solidFill>
                  <a:schemeClr val="dk1"/>
                </a:solidFill>
                <a:highlight>
                  <a:srgbClr val="FFFF00"/>
                </a:highlight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CryptProtectData 2</a:t>
            </a:r>
            <a:r>
              <a:rPr lang="ko-KR" altLang="en-US" sz="1000">
                <a:solidFill>
                  <a:schemeClr val="dk1"/>
                </a:solidFill>
                <a:highlight>
                  <a:srgbClr val="FFFF00"/>
                </a:highlight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번 호출 확인</a:t>
            </a:r>
            <a:endParaRPr lang="en-US" altLang="ko-KR" sz="1000">
              <a:solidFill>
                <a:schemeClr val="dk1"/>
              </a:solidFill>
              <a:highlight>
                <a:srgbClr val="FFFF00"/>
              </a:highlight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EDD4094-6C0D-2373-882D-3945FAABC114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52E4E3B9-0497-7B32-BED3-8297C8478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98" y="79134"/>
            <a:ext cx="609524" cy="609524"/>
          </a:xfrm>
          <a:prstGeom prst="rect">
            <a:avLst/>
          </a:prstGeom>
        </p:spPr>
      </p:pic>
      <p:pic>
        <p:nvPicPr>
          <p:cNvPr id="19" name="그림 1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D9E158-ED04-31FF-B6E7-7F022DD97B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630"/>
          <a:stretch>
            <a:fillRect/>
          </a:stretch>
        </p:blipFill>
        <p:spPr>
          <a:xfrm>
            <a:off x="176053" y="3684540"/>
            <a:ext cx="3137932" cy="1366363"/>
          </a:xfrm>
          <a:prstGeom prst="rect">
            <a:avLst/>
          </a:prstGeom>
        </p:spPr>
      </p:pic>
      <p:pic>
        <p:nvPicPr>
          <p:cNvPr id="21" name="그림 20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DBE1AE-A613-6410-BF13-4648571A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50" b="2122"/>
          <a:stretch>
            <a:fillRect/>
          </a:stretch>
        </p:blipFill>
        <p:spPr>
          <a:xfrm>
            <a:off x="5207796" y="-1"/>
            <a:ext cx="3707606" cy="514350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35DA5C-82B5-44BC-F8AC-322582501D10}"/>
              </a:ext>
            </a:extLst>
          </p:cNvPr>
          <p:cNvSpPr/>
          <p:nvPr/>
        </p:nvSpPr>
        <p:spPr>
          <a:xfrm>
            <a:off x="5412581" y="92596"/>
            <a:ext cx="2957513" cy="250304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92BEBCED-0268-CE00-A0D3-88EF0924A3F5}"/>
              </a:ext>
            </a:extLst>
          </p:cNvPr>
          <p:cNvCxnSpPr>
            <a:cxnSpLocks/>
          </p:cNvCxnSpPr>
          <p:nvPr/>
        </p:nvCxnSpPr>
        <p:spPr>
          <a:xfrm flipV="1">
            <a:off x="1865711" y="2095500"/>
            <a:ext cx="3707606" cy="1883179"/>
          </a:xfrm>
          <a:prstGeom prst="bentConnector3">
            <a:avLst>
              <a:gd name="adj1" fmla="val 9069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DDEC8F0-E0EB-EE20-72D5-DF88FADA4122}"/>
              </a:ext>
            </a:extLst>
          </p:cNvPr>
          <p:cNvSpPr/>
          <p:nvPr/>
        </p:nvSpPr>
        <p:spPr>
          <a:xfrm>
            <a:off x="5573317" y="556514"/>
            <a:ext cx="2957513" cy="1058926"/>
          </a:xfrm>
          <a:prstGeom prst="rect">
            <a:avLst/>
          </a:prstGeom>
          <a:noFill/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35F852D8-8949-07E2-EF63-510D1FD552B0}"/>
              </a:ext>
            </a:extLst>
          </p:cNvPr>
          <p:cNvCxnSpPr>
            <a:cxnSpLocks/>
          </p:cNvCxnSpPr>
          <p:nvPr/>
        </p:nvCxnSpPr>
        <p:spPr>
          <a:xfrm flipV="1">
            <a:off x="1704303" y="1019175"/>
            <a:ext cx="3869014" cy="1669359"/>
          </a:xfrm>
          <a:prstGeom prst="bentConnector3">
            <a:avLst>
              <a:gd name="adj1" fmla="val 87420"/>
            </a:avLst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930BF8-1023-0EE4-1E6E-9699FCAD00FB}"/>
              </a:ext>
            </a:extLst>
          </p:cNvPr>
          <p:cNvSpPr/>
          <p:nvPr/>
        </p:nvSpPr>
        <p:spPr>
          <a:xfrm>
            <a:off x="5890260" y="2880360"/>
            <a:ext cx="692438" cy="114300"/>
          </a:xfrm>
          <a:prstGeom prst="rect">
            <a:avLst/>
          </a:prstGeom>
          <a:noFill/>
          <a:ln w="952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64847E-9962-C3FA-22ED-54E7923C227E}"/>
              </a:ext>
            </a:extLst>
          </p:cNvPr>
          <p:cNvSpPr/>
          <p:nvPr/>
        </p:nvSpPr>
        <p:spPr>
          <a:xfrm>
            <a:off x="464820" y="4691934"/>
            <a:ext cx="2346960" cy="14676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DB1A5B8-6E04-CAE9-EEC5-C4A41CCDC188}"/>
              </a:ext>
            </a:extLst>
          </p:cNvPr>
          <p:cNvSpPr/>
          <p:nvPr/>
        </p:nvSpPr>
        <p:spPr>
          <a:xfrm>
            <a:off x="5896898" y="4060867"/>
            <a:ext cx="692438" cy="114300"/>
          </a:xfrm>
          <a:prstGeom prst="rect">
            <a:avLst/>
          </a:prstGeom>
          <a:noFill/>
          <a:ln w="952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20018EB-C2AF-E266-FC4A-89C646F179A2}"/>
              </a:ext>
            </a:extLst>
          </p:cNvPr>
          <p:cNvSpPr/>
          <p:nvPr/>
        </p:nvSpPr>
        <p:spPr>
          <a:xfrm>
            <a:off x="5896898" y="4472686"/>
            <a:ext cx="435591" cy="114300"/>
          </a:xfrm>
          <a:prstGeom prst="rect">
            <a:avLst/>
          </a:prstGeom>
          <a:noFill/>
          <a:ln w="952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5D9A4C-D7D7-388C-A3F1-2E2A0386DB69}"/>
              </a:ext>
            </a:extLst>
          </p:cNvPr>
          <p:cNvSpPr/>
          <p:nvPr/>
        </p:nvSpPr>
        <p:spPr>
          <a:xfrm>
            <a:off x="5890261" y="2031563"/>
            <a:ext cx="699076" cy="1143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3535FE-FD63-4DF1-2C6B-14E956F28A32}"/>
              </a:ext>
            </a:extLst>
          </p:cNvPr>
          <p:cNvSpPr/>
          <p:nvPr/>
        </p:nvSpPr>
        <p:spPr>
          <a:xfrm>
            <a:off x="5890260" y="3948825"/>
            <a:ext cx="699076" cy="1143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2403A-FEB6-680D-57E3-A1EB75B68CD7}"/>
              </a:ext>
            </a:extLst>
          </p:cNvPr>
          <p:cNvSpPr txBox="1"/>
          <p:nvPr/>
        </p:nvSpPr>
        <p:spPr>
          <a:xfrm>
            <a:off x="3077536" y="419866"/>
            <a:ext cx="1494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only</a:t>
            </a:r>
            <a:r>
              <a:rPr lang="ko-KR" altLang="en-US"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for</a:t>
            </a:r>
            <a:r>
              <a:rPr lang="ko-KR" altLang="en-US"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key</a:t>
            </a:r>
            <a:endParaRPr lang="ko-KR" altLang="en-US">
              <a:latin typeface="페이퍼로지 9 Black" pitchFamily="2" charset="-127"/>
              <a:ea typeface="페이퍼로지 9 Black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5D7307-B551-87DF-76D6-357867A6EF7A}"/>
              </a:ext>
            </a:extLst>
          </p:cNvPr>
          <p:cNvSpPr/>
          <p:nvPr/>
        </p:nvSpPr>
        <p:spPr>
          <a:xfrm>
            <a:off x="5924194" y="2147322"/>
            <a:ext cx="318853" cy="114300"/>
          </a:xfrm>
          <a:prstGeom prst="rect">
            <a:avLst/>
          </a:prstGeom>
          <a:noFill/>
          <a:ln w="952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62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18CBEAE-6A0C-10FF-31E3-61B407A24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61F04A-232C-30A4-E6AF-253BDEF73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3" b="1493"/>
          <a:stretch>
            <a:fillRect/>
          </a:stretch>
        </p:blipFill>
        <p:spPr>
          <a:xfrm>
            <a:off x="5214943" y="1"/>
            <a:ext cx="3503112" cy="5143500"/>
          </a:xfrm>
          <a:prstGeom prst="rect">
            <a:avLst/>
          </a:prstGeom>
        </p:spPr>
      </p:pic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CDD3D68-3317-E7E1-94FF-0A8363F35F3F}"/>
              </a:ext>
            </a:extLst>
          </p:cNvPr>
          <p:cNvSpPr txBox="1"/>
          <p:nvPr/>
        </p:nvSpPr>
        <p:spPr>
          <a:xfrm flipH="1">
            <a:off x="387275" y="898954"/>
            <a:ext cx="4633800" cy="401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chromium/src/+/HEAD/chrome/elevation_service/elevator.cc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DecryptData 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8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- 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Decrypt</a:t>
            </a:r>
          </a:p>
          <a:p>
            <a:pPr marL="357188" lvl="2" indent="-177800">
              <a:buSzPct val="100000"/>
              <a:buAutoNum type="arabicPeriod"/>
            </a:pP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SYSTEM 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 </a:t>
            </a:r>
          </a:p>
          <a:p>
            <a:pPr marL="357188" lvl="2" indent="-177800">
              <a:buSzPct val="100000"/>
              <a:buAutoNum type="arabicPeriod"/>
            </a:pP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USER 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12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357188" lvl="2" indent="-177800">
              <a:buSzPct val="100000"/>
              <a:buAutoNum type="arabicPeriod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9388" lvl="2" indent="-179388">
              <a:buSzPct val="100000"/>
              <a:buFontTx/>
              <a:buChar char="-"/>
            </a:pPr>
            <a: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Encrypt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1. 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USER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 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2. 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SYSTEM</a:t>
            </a:r>
            <a:r>
              <a:rPr lang="ko-KR" altLang="en-US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 권한 </a:t>
            </a:r>
            <a:r>
              <a:rPr lang="en-US" altLang="ko-KR" sz="12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cs typeface="Montserrat SemiBold"/>
                <a:sym typeface="Montserrat SemiBold"/>
              </a:rPr>
              <a:t>DPAPI</a:t>
            </a:r>
          </a:p>
          <a:p>
            <a:pPr lvl="2">
              <a:buSzPct val="100000"/>
            </a:pPr>
            <a:endParaRPr lang="en-US" altLang="ko-KR" sz="1000">
              <a:solidFill>
                <a:srgbClr val="FF0000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11976A0-7AC5-19D9-1F0C-FE8D5B751167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CDB724A9-FAC8-813D-EF49-6767E5966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198" y="78307"/>
            <a:ext cx="609524" cy="60952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3A1077-97C9-7A40-BF45-BFA7D1CE9B49}"/>
              </a:ext>
            </a:extLst>
          </p:cNvPr>
          <p:cNvSpPr/>
          <p:nvPr/>
        </p:nvSpPr>
        <p:spPr>
          <a:xfrm>
            <a:off x="5448452" y="92596"/>
            <a:ext cx="2866873" cy="34317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AE36360-DBEB-5954-D567-30610B893A42}"/>
              </a:ext>
            </a:extLst>
          </p:cNvPr>
          <p:cNvSpPr/>
          <p:nvPr/>
        </p:nvSpPr>
        <p:spPr>
          <a:xfrm>
            <a:off x="5448452" y="914194"/>
            <a:ext cx="3052611" cy="50027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E810501-F93F-68EE-A46B-D880DCEBDE8D}"/>
              </a:ext>
            </a:extLst>
          </p:cNvPr>
          <p:cNvSpPr/>
          <p:nvPr/>
        </p:nvSpPr>
        <p:spPr>
          <a:xfrm>
            <a:off x="5562752" y="2847768"/>
            <a:ext cx="2938311" cy="581231"/>
          </a:xfrm>
          <a:prstGeom prst="rect">
            <a:avLst/>
          </a:prstGeom>
          <a:noFill/>
          <a:ln w="12700"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2AB97-11FE-1EEF-265B-2F090AD288FE}"/>
              </a:ext>
            </a:extLst>
          </p:cNvPr>
          <p:cNvSpPr txBox="1"/>
          <p:nvPr/>
        </p:nvSpPr>
        <p:spPr>
          <a:xfrm>
            <a:off x="3929058" y="2938328"/>
            <a:ext cx="1381126" cy="400110"/>
          </a:xfrm>
          <a:prstGeom prst="rect">
            <a:avLst/>
          </a:prstGeom>
          <a:noFill/>
          <a:ln w="12700">
            <a:solidFill>
              <a:srgbClr val="9933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과거의 요청자와 </a:t>
            </a:r>
            <a:endParaRPr lang="en-US" altLang="ko-KR" sz="1000">
              <a:solidFill>
                <a:schemeClr val="tx2">
                  <a:lumMod val="75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r>
              <a:rPr lang="ko-KR" altLang="en-US" sz="1000">
                <a:solidFill>
                  <a:schemeClr val="tx2">
                    <a:lumMod val="75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현재의 요청자 일치 검증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120EBD-E9AE-95D2-80E4-4CF9C2C64B1C}"/>
              </a:ext>
            </a:extLst>
          </p:cNvPr>
          <p:cNvSpPr/>
          <p:nvPr/>
        </p:nvSpPr>
        <p:spPr>
          <a:xfrm>
            <a:off x="945655" y="2823533"/>
            <a:ext cx="2005008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app_bound_encrypted_key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83088C-6A9E-578F-CC9B-E9FCD17A9C9E}"/>
              </a:ext>
            </a:extLst>
          </p:cNvPr>
          <p:cNvSpPr/>
          <p:nvPr/>
        </p:nvSpPr>
        <p:spPr>
          <a:xfrm>
            <a:off x="642937" y="2189610"/>
            <a:ext cx="2610441" cy="12202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077A386-B0D7-E315-CABB-0ACD740E15F8}"/>
              </a:ext>
            </a:extLst>
          </p:cNvPr>
          <p:cNvSpPr/>
          <p:nvPr/>
        </p:nvSpPr>
        <p:spPr>
          <a:xfrm>
            <a:off x="761396" y="2573996"/>
            <a:ext cx="2373525" cy="74042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E4B53-474B-AA11-BD37-087C4CE54554}"/>
              </a:ext>
            </a:extLst>
          </p:cNvPr>
          <p:cNvSpPr txBox="1"/>
          <p:nvPr/>
        </p:nvSpPr>
        <p:spPr>
          <a:xfrm>
            <a:off x="1707646" y="2354848"/>
            <a:ext cx="481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USER</a:t>
            </a:r>
            <a:endParaRPr lang="ko-KR" altLang="en-US" sz="8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5DCC6-BCED-B7AE-FBA6-9FB8A634B410}"/>
              </a:ext>
            </a:extLst>
          </p:cNvPr>
          <p:cNvSpPr txBox="1"/>
          <p:nvPr/>
        </p:nvSpPr>
        <p:spPr>
          <a:xfrm>
            <a:off x="1643096" y="1930980"/>
            <a:ext cx="6098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SYSTEM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 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81A8AC3-D568-D1F7-ED9E-800CA50B7FF9}"/>
              </a:ext>
            </a:extLst>
          </p:cNvPr>
          <p:cNvCxnSpPr>
            <a:cxnSpLocks/>
          </p:cNvCxnSpPr>
          <p:nvPr/>
        </p:nvCxnSpPr>
        <p:spPr>
          <a:xfrm flipV="1">
            <a:off x="2087880" y="1318260"/>
            <a:ext cx="3360572" cy="3505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3F7F521-E8BB-EA54-AD26-3E73D4A569A0}"/>
              </a:ext>
            </a:extLst>
          </p:cNvPr>
          <p:cNvCxnSpPr>
            <a:cxnSpLocks/>
            <a:stCxn id="20" idx="2"/>
            <a:endCxn id="169" idx="1"/>
          </p:cNvCxnSpPr>
          <p:nvPr/>
        </p:nvCxnSpPr>
        <p:spPr>
          <a:xfrm>
            <a:off x="4270773" y="2674620"/>
            <a:ext cx="750302" cy="229450"/>
          </a:xfrm>
          <a:prstGeom prst="straightConnector1">
            <a:avLst/>
          </a:prstGeom>
          <a:ln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387477-BD0B-7812-A9CC-73944018FFDB}"/>
              </a:ext>
            </a:extLst>
          </p:cNvPr>
          <p:cNvSpPr/>
          <p:nvPr/>
        </p:nvSpPr>
        <p:spPr>
          <a:xfrm>
            <a:off x="3390900" y="1760220"/>
            <a:ext cx="1759746" cy="914400"/>
          </a:xfrm>
          <a:prstGeom prst="rect">
            <a:avLst/>
          </a:prstGeom>
          <a:noFill/>
          <a:ln w="12700">
            <a:solidFill>
              <a:srgbClr val="993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과거의 요청자</a:t>
            </a:r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 GenerateValidationData </a:t>
            </a:r>
            <a:r>
              <a:rPr lang="ko-KR" altLang="en-US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정보가 </a:t>
            </a:r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arg2: data</a:t>
            </a:r>
            <a:r>
              <a:rPr lang="ko-KR" altLang="en-US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에 같이 저장되어 있음</a:t>
            </a:r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.</a:t>
            </a:r>
          </a:p>
          <a:p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-----------------------------------</a:t>
            </a:r>
          </a:p>
          <a:p>
            <a:r>
              <a:rPr lang="ko-KR" altLang="en-US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현재의 요청자</a:t>
            </a:r>
            <a:r>
              <a:rPr lang="en-US" altLang="ko-KR" sz="8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 impersonated process handler ValidateData</a:t>
            </a:r>
            <a:endParaRPr lang="ko-KR" altLang="en-US" sz="80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6467066-B0BE-6E99-CED6-D8F2EDD396DF}"/>
              </a:ext>
            </a:extLst>
          </p:cNvPr>
          <p:cNvSpPr/>
          <p:nvPr/>
        </p:nvSpPr>
        <p:spPr>
          <a:xfrm>
            <a:off x="5783581" y="222272"/>
            <a:ext cx="699076" cy="1143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73E26D5-19FA-41AC-214C-7542B39EAF54}"/>
              </a:ext>
            </a:extLst>
          </p:cNvPr>
          <p:cNvSpPr/>
          <p:nvPr/>
        </p:nvSpPr>
        <p:spPr>
          <a:xfrm>
            <a:off x="5848304" y="1203960"/>
            <a:ext cx="699076" cy="114300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8B8B3-6088-2CFE-EA26-EDEE7846971B}"/>
              </a:ext>
            </a:extLst>
          </p:cNvPr>
          <p:cNvSpPr txBox="1"/>
          <p:nvPr/>
        </p:nvSpPr>
        <p:spPr>
          <a:xfrm>
            <a:off x="3077536" y="419866"/>
            <a:ext cx="1494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only</a:t>
            </a:r>
            <a:r>
              <a:rPr lang="ko-KR" altLang="en-US"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for</a:t>
            </a:r>
            <a:r>
              <a:rPr lang="ko-KR" altLang="en-US"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key</a:t>
            </a:r>
            <a:endParaRPr lang="ko-KR" altLang="en-US">
              <a:latin typeface="페이퍼로지 9 Black" pitchFamily="2" charset="-127"/>
              <a:ea typeface="페이퍼로지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9143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A9FD92CD-91C1-E7BE-50D9-92054C1F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7AD6D6D-010B-5A4C-41FB-D30C1B117BF6}"/>
              </a:ext>
            </a:extLst>
          </p:cNvPr>
          <p:cNvSpPr txBox="1"/>
          <p:nvPr/>
        </p:nvSpPr>
        <p:spPr>
          <a:xfrm flipH="1">
            <a:off x="387275" y="895812"/>
            <a:ext cx="5004832" cy="361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chromium/src/+/HEAD/chrome/elevation_service/elevator.cc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RunIsolatedChrome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untrusted_cmd_line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을 신용하지 않고</a:t>
            </a:r>
            <a:b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</a:b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trusted_cmd_line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을 자체 구축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 (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경로 직접 탐색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)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&gt; 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trusted_cmd_line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-&gt;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AppendSwitch(::switches::kIsolated);</a:t>
            </a:r>
            <a:b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</a:br>
            <a:br>
              <a:rPr lang="en-US" altLang="ko-KR" sz="400">
                <a:latin typeface="페이퍼로지 2 ExtraLight" pitchFamily="2" charset="-127"/>
                <a:ea typeface="페이퍼로지 2 ExtraLight" pitchFamily="2" charset="-127"/>
              </a:rPr>
            </a:b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	“ </a:t>
            </a:r>
            <a:r>
              <a:rPr lang="ko-KR" altLang="ko-KR" sz="1000">
                <a:latin typeface="페이퍼로지 2 ExtraLight" pitchFamily="2" charset="-127"/>
                <a:ea typeface="페이퍼로지 2 ExtraLight" pitchFamily="2" charset="-127"/>
              </a:rPr>
              <a:t>프로세스 격리 강제</a:t>
            </a:r>
            <a:r>
              <a:rPr lang="en-US" altLang="ko-KR" sz="1000">
                <a:latin typeface="페이퍼로지 2 ExtraLight" pitchFamily="2" charset="-127"/>
                <a:ea typeface="페이퍼로지 2 ExtraLight" pitchFamily="2" charset="-127"/>
              </a:rPr>
              <a:t> ”</a:t>
            </a: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trusted_cmd_line.. become writable_cmd_line </a:t>
            </a:r>
          </a:p>
          <a:p>
            <a:pPr lvl="2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Normally.. Post Exploitation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</a:br>
            <a:br>
              <a:rPr lang="en-US" altLang="ko-KR" sz="4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</a:b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이 과정은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Exploit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에 성공하여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SYSTEM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권한을 얻은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Malware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도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Chrome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의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password_value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를 평문으로 탈취하지 못하게 한다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sym typeface="Montserrat SemiBold"/>
              </a:rPr>
              <a:t>.</a:t>
            </a:r>
          </a:p>
          <a:p>
            <a:pPr marL="171450" lvl="2" indent="-171450">
              <a:buSzPts val="16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ko-KR" altLang="en-US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이 함수는 자동화 프로그램이나 초기 상태의 브라우저를 띄우는데 활용</a:t>
            </a:r>
            <a:r>
              <a:rPr lang="en-US" altLang="ko-KR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(</a:t>
            </a:r>
            <a:r>
              <a:rPr lang="ko-KR" altLang="en-US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설정같은거 안 건들게</a:t>
            </a:r>
            <a:r>
              <a:rPr lang="en-US" altLang="ko-KR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)</a:t>
            </a:r>
            <a:br>
              <a:rPr lang="en-US" altLang="ko-KR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</a:br>
            <a:br>
              <a:rPr lang="en-US" altLang="ko-KR" sz="4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</a:br>
            <a:r>
              <a:rPr lang="en-US" altLang="ko-KR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&gt; </a:t>
            </a:r>
            <a:r>
              <a:rPr lang="ko-KR" altLang="en-US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여기서 수행된 작업은 로컬의 기존 캐시나 데이터</a:t>
            </a:r>
            <a:r>
              <a:rPr lang="en-US" altLang="ko-KR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, </a:t>
            </a:r>
            <a:r>
              <a:rPr lang="ko-KR" altLang="en-US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세션에 영향을 주고 받지 않음</a:t>
            </a:r>
            <a:r>
              <a:rPr lang="en-US" altLang="ko-KR" sz="1000">
                <a:solidFill>
                  <a:srgbClr val="9933FF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.</a:t>
            </a:r>
          </a:p>
          <a:p>
            <a:pPr lvl="2">
              <a:buSzPts val="1600"/>
            </a:pPr>
            <a:endParaRPr lang="en-US" altLang="ko-KR" sz="8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--no-sandbox, --load-extension(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악성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), … 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치명적일 수 있는 스위치를 붙여 </a:t>
            </a:r>
            <a:b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</a:b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요청할 수 있기 때문에 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“ </a:t>
            </a:r>
            <a:r>
              <a:rPr lang="en-US" altLang="ko-KR" sz="1000">
                <a:solidFill>
                  <a:srgbClr val="FF0000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–</a:t>
            </a:r>
            <a:r>
              <a:rPr lang="en-US" altLang="ko-KR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 ” skip</a:t>
            </a:r>
            <a:r>
              <a:rPr lang="ko-KR" altLang="en-US" sz="1000">
                <a:solidFill>
                  <a:schemeClr val="dk1"/>
                </a:solidFill>
                <a:latin typeface="페이퍼로지 4 Regular" pitchFamily="2" charset="-127"/>
                <a:ea typeface="페이퍼로지 4 Regular" pitchFamily="2" charset="-127"/>
                <a:sym typeface="Montserrat SemiBold"/>
              </a:rPr>
              <a:t>을 통해 인자를 조정</a:t>
            </a:r>
            <a:endParaRPr lang="en-US" altLang="ko-KR" sz="1000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4101127-C572-E433-9041-B1DFBFA8A6CF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5EDDF93F-2F72-9580-591C-A62F2E13E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98" y="72258"/>
            <a:ext cx="609524" cy="609524"/>
          </a:xfrm>
          <a:prstGeom prst="rect">
            <a:avLst/>
          </a:prstGeom>
        </p:spPr>
      </p:pic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952DBD-0323-52DF-C40F-EBB7635B6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182" y="-1"/>
            <a:ext cx="2824157" cy="514350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47FBF17-B6EF-AF29-8BA7-DBB5B259DFC6}"/>
              </a:ext>
            </a:extLst>
          </p:cNvPr>
          <p:cNvSpPr/>
          <p:nvPr/>
        </p:nvSpPr>
        <p:spPr>
          <a:xfrm>
            <a:off x="5485918" y="1530144"/>
            <a:ext cx="1955648" cy="273256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722840-29C1-B5C7-BC7A-D5D68127522F}"/>
              </a:ext>
            </a:extLst>
          </p:cNvPr>
          <p:cNvSpPr/>
          <p:nvPr/>
        </p:nvSpPr>
        <p:spPr>
          <a:xfrm>
            <a:off x="5479567" y="1981292"/>
            <a:ext cx="2393797" cy="105400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B76B26-6E52-D076-B426-3EEB27D5DA92}"/>
              </a:ext>
            </a:extLst>
          </p:cNvPr>
          <p:cNvSpPr/>
          <p:nvPr/>
        </p:nvSpPr>
        <p:spPr>
          <a:xfrm>
            <a:off x="5485917" y="4336844"/>
            <a:ext cx="1790548" cy="203406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97A39D61-0B80-3CEF-C6DF-DF2031AE33FB}"/>
              </a:ext>
            </a:extLst>
          </p:cNvPr>
          <p:cNvCxnSpPr>
            <a:cxnSpLocks/>
          </p:cNvCxnSpPr>
          <p:nvPr/>
        </p:nvCxnSpPr>
        <p:spPr>
          <a:xfrm flipV="1">
            <a:off x="1877876" y="3948691"/>
            <a:ext cx="3687005" cy="108995"/>
          </a:xfrm>
          <a:prstGeom prst="bentConnector3">
            <a:avLst>
              <a:gd name="adj1" fmla="val 4421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1C5EE1A-DCFF-A333-01BE-09D9F660C90E}"/>
              </a:ext>
            </a:extLst>
          </p:cNvPr>
          <p:cNvCxnSpPr>
            <a:cxnSpLocks/>
          </p:cNvCxnSpPr>
          <p:nvPr/>
        </p:nvCxnSpPr>
        <p:spPr>
          <a:xfrm flipV="1">
            <a:off x="1877876" y="3825240"/>
            <a:ext cx="0" cy="2324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508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11916B21-9CD1-1348-08F5-AF54B520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FDCE4FE5-E399-5F47-80BD-E40B96B93042}"/>
              </a:ext>
            </a:extLst>
          </p:cNvPr>
          <p:cNvSpPr txBox="1"/>
          <p:nvPr/>
        </p:nvSpPr>
        <p:spPr>
          <a:xfrm flipH="1">
            <a:off x="452547" y="885617"/>
            <a:ext cx="4698097" cy="418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chromium/src/+/HEAD/chrome/elevation_service/caller_validation.cc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…</a:t>
            </a:r>
            <a:r>
              <a:rPr lang="en-US" altLang="ko-KR" sz="9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>
              <a:solidFill>
                <a:schemeClr val="dk1"/>
              </a:solidFill>
              <a:latin typeface="페이퍼로지 4 Regular" pitchFamily="2" charset="-127"/>
              <a:ea typeface="페이퍼로지 4 Regular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ValidateData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ProtectionLevel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확인 후 분기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...</a:t>
            </a: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ValidatePath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data(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이전에 암호화한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Proc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의 경로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dk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ontserrat SemiBold"/>
                <a:sym typeface="Montserrat SemiBold"/>
              </a:rPr>
              <a:t>有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)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와 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proc_path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대조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GetProcExecutablePath(proc) &gt; </a:t>
            </a:r>
            <a:r>
              <a:rPr lang="en-US" altLang="ko-KR" sz="1000" u="sng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QueryFullProcessImageNameW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 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호출</a:t>
            </a:r>
            <a:b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b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Query…NameW </a:t>
            </a:r>
            <a:r>
              <a:rPr lang="en-US" altLang="ko-KR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chemeClr val="accent1">
                    <a:lumMod val="50000"/>
                  </a:schemeClr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실제 프로세스의 경로를 확인 </a:t>
            </a:r>
            <a:endParaRPr lang="en-US" altLang="ko-KR" sz="1000">
              <a:solidFill>
                <a:schemeClr val="accent1">
                  <a:lumMod val="50000"/>
                </a:schemeClr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chemeClr val="accent1">
                  <a:lumMod val="50000"/>
                </a:schemeClr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chemeClr val="accent1">
                  <a:lumMod val="50000"/>
                </a:schemeClr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chemeClr val="accent1">
                  <a:lumMod val="50000"/>
                </a:schemeClr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i.e. App-Bound</a:t>
            </a: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 는 </a:t>
            </a:r>
            <a: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chrome.exe</a:t>
            </a: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가 아닌  </a:t>
            </a:r>
            <a: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ValidatePath</a:t>
            </a: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로 인한 </a:t>
            </a:r>
            <a: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Proc </a:t>
            </a: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대조</a:t>
            </a:r>
            <a: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..</a:t>
            </a:r>
            <a:b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</a:br>
            <a:b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그러나</a:t>
            </a:r>
            <a: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, </a:t>
            </a: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암호화를 요청하는 주체가 </a:t>
            </a:r>
            <a: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chrome.exe</a:t>
            </a: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 이기 때문에 </a:t>
            </a:r>
            <a:b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</a:b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사실상 </a:t>
            </a:r>
            <a:r>
              <a:rPr lang="en-US" altLang="ko-KR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app-bound path validation..</a:t>
            </a:r>
          </a:p>
          <a:p>
            <a:pPr marL="171450" lvl="2" indent="-171450">
              <a:buSzPts val="1600"/>
              <a:buFontTx/>
              <a:buChar char="-"/>
            </a:pPr>
            <a:endParaRPr lang="en-US" altLang="ko-KR" sz="400">
              <a:solidFill>
                <a:srgbClr val="9933FF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358775" lvl="3" indent="-176213">
              <a:buSzPts val="1600"/>
              <a:buFontTx/>
              <a:buChar char="-"/>
            </a:pPr>
            <a:r>
              <a:rPr lang="ko-KR" altLang="en-US" sz="1000">
                <a:solidFill>
                  <a:srgbClr val="9933FF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다른 브라우저면 다르겠지</a:t>
            </a:r>
            <a:endParaRPr lang="en-US" altLang="ko-KR" sz="1000">
              <a:solidFill>
                <a:srgbClr val="9933FF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lvl="2">
              <a:buSzPts val="1600"/>
            </a:pPr>
            <a:endParaRPr lang="en-US" altLang="ko-KR" sz="1000">
              <a:solidFill>
                <a:srgbClr val="9933FF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endParaRPr lang="en-US" altLang="ko-KR" sz="1000">
              <a:solidFill>
                <a:srgbClr val="9933FF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Wingdings" panose="05000000000000000000" pitchFamily="2" charset="2"/>
            </a:endParaRPr>
          </a:p>
          <a:p>
            <a:pPr marL="171450" lvl="2" indent="-171450">
              <a:buSzPts val="1600"/>
              <a:buFontTx/>
              <a:buChar char="-"/>
            </a:pPr>
            <a:r>
              <a:rPr lang="en-US" altLang="ko-KR" sz="10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Q1. Prefix</a:t>
            </a:r>
            <a:r>
              <a:rPr lang="ko-KR" altLang="en-US" sz="10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나 버전 정보는 어디서 붙음</a:t>
            </a:r>
            <a:r>
              <a:rPr lang="en-US" altLang="ko-KR" sz="10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? </a:t>
            </a:r>
            <a:r>
              <a:rPr lang="ko-KR" altLang="en-US" sz="10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그런게 안 보이는디</a:t>
            </a:r>
            <a:r>
              <a:rPr lang="en-US" altLang="ko-KR" sz="1000">
                <a:solidFill>
                  <a:schemeClr val="tx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Wingdings" panose="05000000000000000000" pitchFamily="2" charset="2"/>
              </a:rPr>
              <a:t>..???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22CCC0F-6CD5-6756-3DC4-7B5BFC7C9C2D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763371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867F2930-659A-5B59-DC2C-B714C9DD4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98" y="73546"/>
            <a:ext cx="609524" cy="609524"/>
          </a:xfrm>
          <a:prstGeom prst="rect">
            <a:avLst/>
          </a:prstGeom>
        </p:spPr>
      </p:pic>
      <p:pic>
        <p:nvPicPr>
          <p:cNvPr id="4" name="그림 3" descr="텍스트, 전자제품, 스크린샷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46F694-2392-6244-FF1B-FC43EF052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3" y="5508"/>
            <a:ext cx="3825327" cy="2762458"/>
          </a:xfrm>
          <a:prstGeom prst="rect">
            <a:avLst/>
          </a:prstGeom>
        </p:spPr>
      </p:pic>
      <p:pic>
        <p:nvPicPr>
          <p:cNvPr id="5" name="그림 4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583F02-34EA-2648-FC5F-18D65F71B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42" y="2465875"/>
            <a:ext cx="3825327" cy="2683817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3553378-8273-4A6F-6CAF-26B3C3D891EF}"/>
              </a:ext>
            </a:extLst>
          </p:cNvPr>
          <p:cNvCxnSpPr/>
          <p:nvPr/>
        </p:nvCxnSpPr>
        <p:spPr>
          <a:xfrm>
            <a:off x="6027420" y="3177540"/>
            <a:ext cx="22098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3E369C8-8806-5D4B-0EC7-5950D001D43E}"/>
              </a:ext>
            </a:extLst>
          </p:cNvPr>
          <p:cNvCxnSpPr>
            <a:cxnSpLocks/>
          </p:cNvCxnSpPr>
          <p:nvPr/>
        </p:nvCxnSpPr>
        <p:spPr>
          <a:xfrm>
            <a:off x="5775960" y="3634740"/>
            <a:ext cx="27965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35A8FC2-D177-0DEB-2632-C03B2521EB00}"/>
              </a:ext>
            </a:extLst>
          </p:cNvPr>
          <p:cNvCxnSpPr>
            <a:cxnSpLocks/>
          </p:cNvCxnSpPr>
          <p:nvPr/>
        </p:nvCxnSpPr>
        <p:spPr>
          <a:xfrm>
            <a:off x="5707380" y="4213860"/>
            <a:ext cx="30022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2D74AE3A-37A9-2381-9DAB-5927F33D0DFD}"/>
              </a:ext>
            </a:extLst>
          </p:cNvPr>
          <p:cNvSpPr/>
          <p:nvPr/>
        </p:nvSpPr>
        <p:spPr>
          <a:xfrm>
            <a:off x="5450533" y="1332411"/>
            <a:ext cx="140369" cy="1001486"/>
          </a:xfrm>
          <a:custGeom>
            <a:avLst/>
            <a:gdLst>
              <a:gd name="csX0" fmla="*/ 88118 w 140369"/>
              <a:gd name="csY0" fmla="*/ 0 h 1001486"/>
              <a:gd name="csX1" fmla="*/ 1032 w 140369"/>
              <a:gd name="csY1" fmla="*/ 548640 h 1001486"/>
              <a:gd name="csX2" fmla="*/ 140369 w 140369"/>
              <a:gd name="csY2" fmla="*/ 1001486 h 1001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369" h="1001486">
                <a:moveTo>
                  <a:pt x="88118" y="0"/>
                </a:moveTo>
                <a:cubicBezTo>
                  <a:pt x="40221" y="190863"/>
                  <a:pt x="-7676" y="381726"/>
                  <a:pt x="1032" y="548640"/>
                </a:cubicBezTo>
                <a:cubicBezTo>
                  <a:pt x="9740" y="715554"/>
                  <a:pt x="75054" y="858520"/>
                  <a:pt x="140369" y="1001486"/>
                </a:cubicBezTo>
              </a:path>
            </a:pathLst>
          </a:cu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BF2071E-4ABD-3AC7-5E3F-74786F5636CA}"/>
              </a:ext>
            </a:extLst>
          </p:cNvPr>
          <p:cNvCxnSpPr>
            <a:endCxn id="6" idx="1"/>
          </p:cNvCxnSpPr>
          <p:nvPr/>
        </p:nvCxnSpPr>
        <p:spPr>
          <a:xfrm>
            <a:off x="2464198" y="1672046"/>
            <a:ext cx="2986335" cy="1915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90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08E32A4-690C-7FBB-A6FB-406C697A8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223334BC-CADE-4090-F477-372DDA2E608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>
              <a:buSzPts val="1600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“ Windows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환경에서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Chromium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사용자 데이터를 보호하는 핵심 암호화 모듈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(OSCrypt)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구현체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En/DecryptStringWithDPAPI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실제 데이터에 대한 암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복호화 적용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 + key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에도 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USER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암호화만 적용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(“ v10 ”)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Prefix: “ DPAPI ”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Decrypt Key: Call DecryptStringWithDPAPI(encrypted_key, &amp;key);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08BCCBC-AECE-CB05-92AE-65EC2FF5CE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“ v10 ” components/os_crypt/sync/os_crypt_win.cc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FCDF7E9-097C-E72E-51EC-E81BF27FAB7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폰트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C5CB0E-A2B2-7980-7142-1B2D19CE3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699" y="2636426"/>
            <a:ext cx="4620602" cy="244656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987005F-BE6A-2839-E208-92558AB76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353" y="3715789"/>
            <a:ext cx="3536446" cy="8211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BF6EC08-FDC0-61A4-2F20-7AA9B1525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448" y="1427711"/>
            <a:ext cx="1086002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40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4D7DDF50-8EB9-4B7B-98E1-EA572959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C9F1F9E3-ECDD-EB51-B4A7-C78AD2CF54BD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app_bound_encryption_provider_win.cc </a:t>
            </a:r>
            <a:endParaRPr lang="en-US" altLang="ko-KR" sz="4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lvl="2">
              <a:buSzPts val="1600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lvl="2">
              <a:buSzPts val="1600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총괄 매니저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6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4625" lvl="2">
              <a:buSzPts val="1600"/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주요 클래스 및 함수</a:t>
            </a: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AppBoundEncryptionProviderWin : : </a:t>
            </a: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</a:t>
            </a:r>
            <a:r>
              <a:rPr lang="en-US" altLang="ko-KR" sz="10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</a:t>
            </a: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*COMWorker Class**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elevator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객체와 소통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클래스 멤버 함수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구현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**En/DecryptAppBoundString**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elevator-&gt;EncryptData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데이터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번 잠구기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GetKey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RetriveEncryptedKey(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키 정리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COMWorker::DecryptKey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StoreKey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Inverse operation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of the RetriveEncryptedKey (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Prefixing the Key, Encoding, Encryption, …)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60363" lvl="2" indent="-18573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HandleEncryptedKey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-  StoreAndReplyWithKey </a:t>
            </a:r>
            <a:r>
              <a:rPr lang="en-US" altLang="ko-KR" sz="1200">
                <a:solidFill>
                  <a:srgbClr val="0099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// Storing Key in Local State &amp; return Key Handler.</a:t>
            </a: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420E302-0C59-0A29-8C38-F53367383A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“ v20 ” chrome/</a:t>
            </a:r>
            <a:r>
              <a:rPr lang="en-US" altLang="ko-KR">
                <a:solidFill>
                  <a:srgbClr val="00B0F0"/>
                </a:solidFill>
              </a:rPr>
              <a:t>browser</a:t>
            </a:r>
            <a:r>
              <a:rPr lang="en-US" altLang="ko-KR"/>
              <a:t>/os_crypt/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D471DED-34CB-28C0-C216-47DDE2FA82EF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65EC73-8F1D-34C7-54D7-DE682B220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29" t="9768" r="3000" b="9447"/>
          <a:stretch>
            <a:fillRect/>
          </a:stretch>
        </p:blipFill>
        <p:spPr>
          <a:xfrm>
            <a:off x="2855819" y="1159937"/>
            <a:ext cx="3624989" cy="1241747"/>
          </a:xfrm>
          <a:prstGeom prst="rect">
            <a:avLst/>
          </a:prstGeom>
        </p:spPr>
      </p:pic>
      <p:pic>
        <p:nvPicPr>
          <p:cNvPr id="4" name="그래픽 3" descr="별 3개 평점 단색으로 채워진">
            <a:extLst>
              <a:ext uri="{FF2B5EF4-FFF2-40B4-BE49-F238E27FC236}">
                <a16:creationId xmlns:a16="http://schemas.microsoft.com/office/drawing/2014/main" id="{1BCA5698-DC5F-4E6F-2A4A-CEB3AF0FA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313" y="2954049"/>
            <a:ext cx="376966" cy="37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96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3BC9C14A-76F9-1237-CD3E-C8609882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83D5A49F-E119-F1C8-3D34-19EC19299E9E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COM? </a:t>
            </a:r>
            <a:br>
              <a:rPr lang="en-US" altLang="ko-KR" sz="1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8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Componenet Object Model 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7188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네놈의 정체가 무엇이더냐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..! </a:t>
            </a:r>
          </a:p>
          <a:p>
            <a:pPr marL="357188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4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C++, C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로 작성된 프로그램이 그냥은 대화가 안되기 때문에 언어의 장벽을 허물기 위한 인터페이스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너는 마치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돼지코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</a:t>
            </a:r>
          </a:p>
          <a:p>
            <a:pPr marL="536575" lvl="2" indent="-179388">
              <a:buSzPts val="1600"/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어떤 프로그램에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 Interface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 구현되어 있으면 해당 형식에 맞춰 전달하면 끝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COMWorker Class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En/DecryptAppBoundString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함수 호출 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endParaRPr lang="en-US" altLang="ko-KR" sz="8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COMWorker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통해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Elevation Service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IElevator2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라는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COM Interface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호출해 </a:t>
            </a:r>
            <a:b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암호화된 키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(AES-256 Key)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를 째로 던져서 복호화 부탁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4C31DE3-7B50-1CFD-AD42-D9BEC0448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COM: Component Object Model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3C3E8E1-F6D3-44A6-F9A1-F7628CB09D7C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487B8AD-B831-5A73-AFE7-5D5B26E47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263" y="1895475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36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9684D9E-779F-220E-7281-52A6C355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4BDB5DF-A9EC-6942-46C4-FDC954506DEE}"/>
              </a:ext>
            </a:extLst>
          </p:cNvPr>
          <p:cNvSpPr txBox="1"/>
          <p:nvPr/>
        </p:nvSpPr>
        <p:spPr>
          <a:xfrm flipH="1">
            <a:off x="2545668" y="2888161"/>
            <a:ext cx="4362337" cy="1879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SAPI.SpVoice : SAPI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의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SpVoice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객체 생성</a:t>
            </a: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SpVoice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: COM Interface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B437EFF0-3FAF-E973-E1AD-C003BECF5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Overview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E57F14C-71F3-ACCB-2BAC-BCE1AE72F3A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A7440E34-8365-7599-D5DB-1631A9D96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718" y="913303"/>
            <a:ext cx="4500563" cy="2098886"/>
          </a:xfrm>
          <a:prstGeom prst="rect">
            <a:avLst/>
          </a:prstGeom>
        </p:spPr>
      </p:pic>
      <p:pic>
        <p:nvPicPr>
          <p:cNvPr id="6" name="output">
            <a:hlinkClick r:id="" action="ppaction://media"/>
            <a:extLst>
              <a:ext uri="{FF2B5EF4-FFF2-40B4-BE49-F238E27FC236}">
                <a16:creationId xmlns:a16="http://schemas.microsoft.com/office/drawing/2014/main" id="{EBB570A6-0B6D-31E3-ABF7-19F73D8120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67199" y="377300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4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8CDC11BC-68B6-251A-4CED-797AB60A6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A6A9BFDD-EAFC-08AE-AFE6-4ACB81CFB865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8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app_bound_encryption_win.cc </a:t>
            </a:r>
            <a:b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현장 노동자 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구조를 나눈 이유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? 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유지 보수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..(</a:t>
            </a:r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모듈화</a:t>
            </a:r>
            <a:r>
              <a:rPr lang="en-US" altLang="ko-KR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  <a:endParaRPr lang="en-US" altLang="ko-KR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3">
              <a:buSzPts val="1600"/>
            </a:pPr>
            <a:endParaRPr lang="en-US" altLang="ko-KR" sz="600">
              <a:solidFill>
                <a:schemeClr val="accent3">
                  <a:lumMod val="7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GetAppBoundEncryptionSupportLevel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시스템 상태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,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브라우저 설정 조회 후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Enum(os_crypt : : SupportLevel)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반환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EncryptAppBoundString</a:t>
            </a:r>
          </a:p>
          <a:p>
            <a:pPr marL="177800" lvl="2" indent="-177800">
              <a:buSzPts val="1600"/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rgbClr val="FF000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DecryptAppBoundString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4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“ elevator-&gt;En/DecryptData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호출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”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COM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동작 수행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(GetCLSID, GetIID, Co...)</a:t>
            </a:r>
            <a:b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+ DecryptAppBoundString &gt; kSuccessShouldReencrypt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flag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조회</a:t>
            </a:r>
            <a:b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   +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이전 암호화 버전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(v10)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을 현재 암호화 버전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(v20)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형식으로 갱신</a:t>
            </a:r>
            <a:endParaRPr lang="en-US" altLang="ko-KR" sz="1200">
              <a:solidFill>
                <a:schemeClr val="tx1">
                  <a:lumMod val="65000"/>
                  <a:lumOff val="35000"/>
                </a:schemeClr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AFA79D13-C114-92D7-F4B3-134E59FEC3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-KR"/>
              <a:t>“ v20 ” chrome/</a:t>
            </a:r>
            <a:r>
              <a:rPr lang="en-US" altLang="ko-KR">
                <a:solidFill>
                  <a:srgbClr val="00B0F0"/>
                </a:solidFill>
              </a:rPr>
              <a:t>browser</a:t>
            </a:r>
            <a:r>
              <a:rPr lang="en-US" altLang="ko-KR"/>
              <a:t>/os_crypt/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1EEECB4-2549-959A-21AC-9B636EFBEE33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9D410012-7378-1683-83C0-8C4F7A049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86" y="2292824"/>
            <a:ext cx="3139335" cy="243348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그래픽 5" descr="별 3개 평점 단색으로 채워진">
            <a:extLst>
              <a:ext uri="{FF2B5EF4-FFF2-40B4-BE49-F238E27FC236}">
                <a16:creationId xmlns:a16="http://schemas.microsoft.com/office/drawing/2014/main" id="{B7430ED3-F28C-4AD8-18CD-604F5DF511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2835" y="2137101"/>
            <a:ext cx="647700" cy="6477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3F753EB-37B4-5E22-E322-A4341838CE54}"/>
              </a:ext>
            </a:extLst>
          </p:cNvPr>
          <p:cNvSpPr/>
          <p:nvPr/>
        </p:nvSpPr>
        <p:spPr>
          <a:xfrm>
            <a:off x="7093546" y="3122898"/>
            <a:ext cx="1686989" cy="2590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FF0000"/>
                </a:solidFill>
              </a:rPr>
              <a:t>GetCLSID,</a:t>
            </a:r>
            <a:r>
              <a:rPr lang="ko-KR" altLang="en-US" sz="800">
                <a:solidFill>
                  <a:srgbClr val="FF0000"/>
                </a:solidFill>
              </a:rPr>
              <a:t> </a:t>
            </a:r>
            <a:r>
              <a:rPr lang="en-US" altLang="ko-KR" sz="800">
                <a:solidFill>
                  <a:srgbClr val="FF0000"/>
                </a:solidFill>
              </a:rPr>
              <a:t>GetIID, CoInitialize, CoCreateInstance</a:t>
            </a:r>
            <a:endParaRPr lang="ko-KR" altLang="en-US" sz="800">
              <a:solidFill>
                <a:srgbClr val="FF0000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38ADB6A-28C9-2AA8-7BB8-DF6CDDA6E934}"/>
              </a:ext>
            </a:extLst>
          </p:cNvPr>
          <p:cNvCxnSpPr>
            <a:cxnSpLocks/>
          </p:cNvCxnSpPr>
          <p:nvPr/>
        </p:nvCxnSpPr>
        <p:spPr>
          <a:xfrm>
            <a:off x="2647666" y="3110840"/>
            <a:ext cx="308262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430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F57CFD4-1BCD-A628-DDAB-EBA9681C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D45A8E38-59F6-D2AE-30FE-123949D968F7}"/>
              </a:ext>
            </a:extLst>
          </p:cNvPr>
          <p:cNvSpPr txBox="1"/>
          <p:nvPr/>
        </p:nvSpPr>
        <p:spPr>
          <a:xfrm flipH="1">
            <a:off x="452550" y="885617"/>
            <a:ext cx="40242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chromium/src/+/HEAD/chrome/</a:t>
            </a:r>
            <a:r>
              <a:rPr lang="en-US" altLang="ko-KR" sz="800">
                <a:solidFill>
                  <a:srgbClr val="00B0F0"/>
                </a:solidFill>
                <a:latin typeface="페이퍼로지 2 ExtraLight" pitchFamily="2" charset="-127"/>
                <a:ea typeface="페이퍼로지 2 ExtraLight" pitchFamily="2" charset="-127"/>
              </a:rPr>
              <a:t>browser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/os_crypt/app_bound_encryption_win.cc/EncryptAppBoundString</a:t>
            </a:r>
            <a:endParaRPr lang="en-US" altLang="ko-KR" sz="8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initialized proxy handler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memcpy(plaintext)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if (flags)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hr = elevator-&gt;EncryptData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//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후에 내부에서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번 잠구기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ciphertext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포인터에 저장 및 가공 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FD31BE6-04FA-BF9A-573E-4E3A7257735C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184725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F3E53E-5348-0C66-D09A-7ADAC7366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58"/>
          <a:stretch>
            <a:fillRect/>
          </a:stretch>
        </p:blipFill>
        <p:spPr>
          <a:xfrm>
            <a:off x="4572000" y="763285"/>
            <a:ext cx="4572000" cy="380999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E14EA99-85A7-F175-B861-3CA9E4673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875" y="73545"/>
            <a:ext cx="609524" cy="609524"/>
          </a:xfrm>
          <a:prstGeom prst="rect">
            <a:avLst/>
          </a:prstGeom>
        </p:spPr>
      </p:pic>
      <p:pic>
        <p:nvPicPr>
          <p:cNvPr id="14" name="그림 13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F3ED66-8A38-D4FA-5C5D-9B05894A3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1476375"/>
            <a:ext cx="180975" cy="180975"/>
          </a:xfrm>
          <a:prstGeom prst="rect">
            <a:avLst/>
          </a:prstGeom>
        </p:spPr>
      </p:pic>
      <p:pic>
        <p:nvPicPr>
          <p:cNvPr id="15" name="그림 14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5AEEF4-485C-795D-96CA-5655CD3E5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1895475"/>
            <a:ext cx="180975" cy="180975"/>
          </a:xfrm>
          <a:prstGeom prst="rect">
            <a:avLst/>
          </a:prstGeom>
        </p:spPr>
      </p:pic>
      <p:pic>
        <p:nvPicPr>
          <p:cNvPr id="16" name="그림 15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2D009C-9310-96EB-17D5-A346CC255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9" y="2352675"/>
            <a:ext cx="180975" cy="180975"/>
          </a:xfrm>
          <a:prstGeom prst="rect">
            <a:avLst/>
          </a:prstGeom>
        </p:spPr>
      </p:pic>
      <p:pic>
        <p:nvPicPr>
          <p:cNvPr id="17" name="그림 16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C7B797-23EA-A680-D3D6-AD6468DCB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8" y="2771775"/>
            <a:ext cx="180975" cy="180975"/>
          </a:xfrm>
          <a:prstGeom prst="rect">
            <a:avLst/>
          </a:prstGeom>
        </p:spPr>
      </p:pic>
      <p:pic>
        <p:nvPicPr>
          <p:cNvPr id="18" name="그림 17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41B155-D77D-0384-BEC4-FA2B2E463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8" y="3343915"/>
            <a:ext cx="180975" cy="18097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8339B01-760F-C497-4256-EB67CD611A9F}"/>
              </a:ext>
            </a:extLst>
          </p:cNvPr>
          <p:cNvSpPr/>
          <p:nvPr/>
        </p:nvSpPr>
        <p:spPr>
          <a:xfrm>
            <a:off x="5288280" y="2787015"/>
            <a:ext cx="123444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D2CD57-7389-78A6-7E61-7B51B24BAFBC}"/>
              </a:ext>
            </a:extLst>
          </p:cNvPr>
          <p:cNvSpPr/>
          <p:nvPr/>
        </p:nvSpPr>
        <p:spPr>
          <a:xfrm>
            <a:off x="5057773" y="1066800"/>
            <a:ext cx="123444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4A183-9BF3-61C3-0632-3BD7D8A85E50}"/>
              </a:ext>
            </a:extLst>
          </p:cNvPr>
          <p:cNvSpPr txBox="1"/>
          <p:nvPr/>
        </p:nvSpPr>
        <p:spPr>
          <a:xfrm>
            <a:off x="2784399" y="436457"/>
            <a:ext cx="14944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only</a:t>
            </a:r>
            <a:r>
              <a:rPr lang="ko-KR" altLang="en-US"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for</a:t>
            </a:r>
            <a:r>
              <a:rPr lang="ko-KR" altLang="en-US">
                <a:latin typeface="페이퍼로지 9 Black" pitchFamily="2" charset="-127"/>
                <a:ea typeface="페이퍼로지 9 Black" pitchFamily="2" charset="-127"/>
              </a:rPr>
              <a:t> </a:t>
            </a:r>
            <a:r>
              <a:rPr lang="en-US" altLang="ko-KR">
                <a:latin typeface="페이퍼로지 9 Black" pitchFamily="2" charset="-127"/>
                <a:ea typeface="페이퍼로지 9 Black" pitchFamily="2" charset="-127"/>
              </a:rPr>
              <a:t>key</a:t>
            </a:r>
            <a:endParaRPr lang="ko-KR" altLang="en-US">
              <a:latin typeface="페이퍼로지 9 Black" pitchFamily="2" charset="-127"/>
              <a:ea typeface="페이퍼로지 9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1067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6AD7F548-B155-BA84-2D7C-ECD93A6F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11C5DED7-AC7E-9FD2-5C32-090559BA3E5F}"/>
              </a:ext>
            </a:extLst>
          </p:cNvPr>
          <p:cNvSpPr txBox="1"/>
          <p:nvPr/>
        </p:nvSpPr>
        <p:spPr>
          <a:xfrm flipH="1">
            <a:off x="452550" y="885617"/>
            <a:ext cx="40242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chromium/src/+/HEAD/chrome/</a:t>
            </a:r>
            <a:r>
              <a:rPr lang="en-US" altLang="ko-KR" sz="800">
                <a:solidFill>
                  <a:srgbClr val="00B0F0"/>
                </a:solidFill>
                <a:latin typeface="페이퍼로지 2 ExtraLight" pitchFamily="2" charset="-127"/>
                <a:ea typeface="페이퍼로지 2 ExtraLight" pitchFamily="2" charset="-127"/>
              </a:rPr>
              <a:t>browser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/os_crypt/app_bound_encryption_win.cc/DecryptAppBoundString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IElevator handler.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memcpy(ciphertext)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if (flags) </a:t>
            </a: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hr = elevator-&gt;DecryptData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//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후에 내부에서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2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번 풀기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포인터에 저장</a:t>
            </a: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+++++++++++++++++++++++++++++++++</a:t>
            </a:r>
          </a:p>
          <a:p>
            <a:pPr marL="177800" lvl="2" indent="-177800">
              <a:buSzPts val="1600"/>
              <a:buFont typeface="Wingdings" panose="05000000000000000000" pitchFamily="2" charset="2"/>
              <a:buChar char="ü"/>
            </a:pP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오래된 놈들 챙기기</a:t>
            </a: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(v10, key expiration)</a:t>
            </a:r>
          </a:p>
          <a:p>
            <a:pPr marL="177800" lvl="2" indent="-177800">
              <a:buSzPts val="1600"/>
              <a:buFont typeface="Wingdings" panose="05000000000000000000" pitchFamily="2" charset="2"/>
              <a:buChar char="ü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new_ciphertext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생성 및 </a:t>
            </a:r>
            <a:b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</a:b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kAppBoundDataReencrypt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확인</a:t>
            </a:r>
            <a:endParaRPr lang="en-US" altLang="ko-KR" sz="10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354013" lvl="2" indent="-177800">
              <a:buSzPts val="1600"/>
              <a:buFont typeface="Wingdings" panose="05000000000000000000" pitchFamily="2" charset="2"/>
              <a:buChar char="ü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reencrypted_data </a:t>
            </a: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포인터에 저장</a:t>
            </a:r>
            <a:endParaRPr lang="en-US" altLang="ko-KR" sz="10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6213"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"""</a:t>
            </a:r>
          </a:p>
          <a:p>
            <a:pPr marL="176213" lvl="2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이전의 키로 잠군 오래된 데이터를 새로운 키로 잠궈 </a:t>
            </a:r>
            <a:endParaRPr lang="en-US" altLang="ko-KR" sz="10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6213" lvl="2">
              <a:buSzPts val="1600"/>
            </a:pPr>
            <a:r>
              <a:rPr lang="ko-KR" altLang="en-US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이전 암호문을 새로운 키로 잠군 암호문으로 갱신</a:t>
            </a:r>
            <a:endParaRPr lang="en-US" altLang="ko-KR" sz="1000">
              <a:solidFill>
                <a:schemeClr val="dk1"/>
              </a:solidFill>
              <a:latin typeface="페이퍼로지 2 ExtraLight" pitchFamily="2" charset="-127"/>
              <a:ea typeface="페이퍼로지 2 ExtraLight" pitchFamily="2" charset="-127"/>
              <a:cs typeface="Montserrat SemiBold"/>
              <a:sym typeface="Montserrat SemiBold"/>
            </a:endParaRPr>
          </a:p>
          <a:p>
            <a:pPr marL="176213" lvl="2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"""</a:t>
            </a:r>
          </a:p>
          <a:p>
            <a:pPr marL="176213" lvl="2" indent="-176213">
              <a:buSzPts val="1600"/>
            </a:pPr>
            <a:r>
              <a:rPr lang="en-US" altLang="ko-KR" sz="1000">
                <a:solidFill>
                  <a:schemeClr val="dk1"/>
                </a:solidFill>
                <a:latin typeface="페이퍼로지 2 ExtraLight" pitchFamily="2" charset="-127"/>
                <a:ea typeface="페이퍼로지 2 ExtraLight" pitchFamily="2" charset="-127"/>
                <a:cs typeface="Montserrat SemiBold"/>
                <a:sym typeface="Montserrat SemiBold"/>
              </a:rPr>
              <a:t>+++++++++++++++++++++++++++++++++</a:t>
            </a:r>
            <a:endParaRPr lang="en-US" altLang="ko-KR" sz="10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176213" lvl="2" indent="-176213">
              <a:buSzPts val="1600"/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plaintext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가공 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1506BD2-77F2-9CBE-C4E4-CB22B15D874E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184725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1494DF95-B55C-A3DB-3E84-EBA720EEB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875" y="73545"/>
            <a:ext cx="609524" cy="609524"/>
          </a:xfrm>
          <a:prstGeom prst="rect">
            <a:avLst/>
          </a:prstGeom>
        </p:spPr>
      </p:pic>
      <p:pic>
        <p:nvPicPr>
          <p:cNvPr id="2" name="그림 1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B560C1-4105-05DC-294C-99199B3DE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0"/>
            <a:ext cx="3695734" cy="5143500"/>
          </a:xfrm>
          <a:prstGeom prst="rect">
            <a:avLst/>
          </a:prstGeom>
        </p:spPr>
      </p:pic>
      <p:pic>
        <p:nvPicPr>
          <p:cNvPr id="5" name="그림 4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A192B9-D1C3-1B35-B3C6-F86673E55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592581"/>
            <a:ext cx="180975" cy="180975"/>
          </a:xfrm>
          <a:prstGeom prst="rect">
            <a:avLst/>
          </a:prstGeom>
        </p:spPr>
      </p:pic>
      <p:pic>
        <p:nvPicPr>
          <p:cNvPr id="6" name="그림 5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E0D487-5863-F713-47DC-9CE46540C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9" y="1630074"/>
            <a:ext cx="180975" cy="180975"/>
          </a:xfrm>
          <a:prstGeom prst="rect">
            <a:avLst/>
          </a:prstGeom>
        </p:spPr>
      </p:pic>
      <p:pic>
        <p:nvPicPr>
          <p:cNvPr id="8" name="그림 7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BC1C5-3641-2194-989A-169B4AA11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9" y="1924050"/>
            <a:ext cx="180975" cy="180975"/>
          </a:xfrm>
          <a:prstGeom prst="rect">
            <a:avLst/>
          </a:prstGeom>
        </p:spPr>
      </p:pic>
      <p:pic>
        <p:nvPicPr>
          <p:cNvPr id="9" name="그림 8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24118B-AF19-F659-E896-BAF314366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9" y="2438967"/>
            <a:ext cx="180975" cy="180975"/>
          </a:xfrm>
          <a:prstGeom prst="rect">
            <a:avLst/>
          </a:prstGeom>
        </p:spPr>
      </p:pic>
      <p:pic>
        <p:nvPicPr>
          <p:cNvPr id="10" name="그림 9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6A63FD-58A5-2A6C-D909-F551CF0B8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8" y="2562792"/>
            <a:ext cx="180975" cy="180975"/>
          </a:xfrm>
          <a:prstGeom prst="rect">
            <a:avLst/>
          </a:prstGeom>
        </p:spPr>
      </p:pic>
      <p:pic>
        <p:nvPicPr>
          <p:cNvPr id="11" name="그림 10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5E0A2D-D4E7-CFC9-2D42-3A4F00449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697" y="3276316"/>
            <a:ext cx="180975" cy="180975"/>
          </a:xfrm>
          <a:prstGeom prst="rect">
            <a:avLst/>
          </a:prstGeom>
        </p:spPr>
      </p:pic>
      <p:pic>
        <p:nvPicPr>
          <p:cNvPr id="12" name="그림 11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75CBB4-1859-3CE4-64A9-5CAFB3949B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40" y="3457291"/>
            <a:ext cx="180975" cy="180975"/>
          </a:xfrm>
          <a:prstGeom prst="rect">
            <a:avLst/>
          </a:prstGeom>
        </p:spPr>
      </p:pic>
      <p:pic>
        <p:nvPicPr>
          <p:cNvPr id="13" name="그림 12" descr="다채로움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476642-908A-F9D6-8B45-B9B15EFDA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55" y="4209034"/>
            <a:ext cx="180975" cy="180975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27516F0-2922-26F8-210D-76C493A8067C}"/>
              </a:ext>
            </a:extLst>
          </p:cNvPr>
          <p:cNvCxnSpPr>
            <a:endCxn id="10" idx="1"/>
          </p:cNvCxnSpPr>
          <p:nvPr/>
        </p:nvCxnSpPr>
        <p:spPr>
          <a:xfrm flipV="1">
            <a:off x="3177540" y="2653280"/>
            <a:ext cx="1661158" cy="6230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9FE544A-2E3B-4CA9-46CF-16A5823689DF}"/>
              </a:ext>
            </a:extLst>
          </p:cNvPr>
          <p:cNvCxnSpPr>
            <a:endCxn id="13" idx="0"/>
          </p:cNvCxnSpPr>
          <p:nvPr/>
        </p:nvCxnSpPr>
        <p:spPr>
          <a:xfrm flipV="1">
            <a:off x="3147060" y="4209034"/>
            <a:ext cx="1786883" cy="30200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BE54CF-C2C0-C0B4-B3FF-87B38B7FE394}"/>
              </a:ext>
            </a:extLst>
          </p:cNvPr>
          <p:cNvSpPr/>
          <p:nvPr/>
        </p:nvSpPr>
        <p:spPr>
          <a:xfrm>
            <a:off x="4855857" y="287781"/>
            <a:ext cx="123444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C7F78C-F6CC-0737-6037-DA2B780C35AA}"/>
              </a:ext>
            </a:extLst>
          </p:cNvPr>
          <p:cNvSpPr/>
          <p:nvPr/>
        </p:nvSpPr>
        <p:spPr>
          <a:xfrm>
            <a:off x="5172071" y="3441549"/>
            <a:ext cx="918225" cy="1169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C1DF13-F521-C1E7-7DF1-1C46B96970A3}"/>
              </a:ext>
            </a:extLst>
          </p:cNvPr>
          <p:cNvSpPr/>
          <p:nvPr/>
        </p:nvSpPr>
        <p:spPr>
          <a:xfrm>
            <a:off x="5133970" y="1995654"/>
            <a:ext cx="918225" cy="1169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840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2FDBE0D6-DB72-0042-E673-64B4B82E3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49AE2575-B3A8-3EDA-4EA7-BDDE0601F4F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80437C35-30DE-729F-F0A3-7A82909FA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altLang="ko-KR">
                <a:latin typeface="페이퍼로지 6 SemiBold" pitchFamily="2" charset="-127"/>
                <a:ea typeface="페이퍼로지 6 SemiBold" pitchFamily="2" charset="-127"/>
              </a:rPr>
              <a:t>Note. autofill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3A6B4B2-7B3F-EE1C-0253-2F257C705334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01C34D-D61C-115A-D9F9-DDC090B5C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62" y="1261879"/>
            <a:ext cx="8059275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728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6986C70-6ADD-A889-349C-A55FAB18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E6A9AED8-DCDE-A626-11D4-7A5F4AFEFE67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lvl="2" indent="-177800">
              <a:buSzPts val="1600"/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9292D3B-5B2C-1258-6CEB-4C35970D8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Note. autofill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69C72A1-E4B3-98C0-DF21-4A8C53FE2780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A06449-CE97-005C-1811-78D3FCCD3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996" y="843952"/>
            <a:ext cx="4144007" cy="413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60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3B25CA3-2689-C083-FF69-EA7FCD3FB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EFAD1BE-5A42-5F12-17EC-83B8AD8CD497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2" indent="-342900">
              <a:buSzPct val="100000"/>
              <a:buAutoNum type="arabicPeriod"/>
            </a:pPr>
            <a:r>
              <a:rPr lang="ko-KR" altLang="en-US">
                <a:solidFill>
                  <a:srgbClr val="0070C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감지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components/autofill/content/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renderer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/password_autofill_agent.cc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=&gt; PasswordAutofillAgent</a:t>
            </a:r>
          </a:p>
          <a:p>
            <a:pPr marL="342900" lvl="2" indent="-342900">
              <a:buSzPct val="100000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ct val="100000"/>
              <a:buAutoNum type="arabicPeriod"/>
            </a:pPr>
            <a:r>
              <a:rPr lang="ko-KR" altLang="en-US">
                <a:solidFill>
                  <a:srgbClr val="0070C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저장</a:t>
            </a:r>
            <a:r>
              <a:rPr lang="ko-KR" altLang="en-US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>
                <a:solidFill>
                  <a:srgbClr val="0070C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판단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components/password_manager/core/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browser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/password_form_manager.cc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=&gt; PasswordFormManager</a:t>
            </a:r>
          </a:p>
          <a:p>
            <a:pPr marL="228600" lvl="2" indent="-228600">
              <a:buSzPct val="100000"/>
              <a:buFont typeface="+mj-lt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ct val="100000"/>
              <a:buAutoNum type="arabicPeriod"/>
            </a:pPr>
            <a:r>
              <a:rPr lang="en-US" altLang="ko-KR">
                <a:solidFill>
                  <a:srgbClr val="0070C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DB</a:t>
            </a:r>
            <a: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>
                <a:solidFill>
                  <a:srgbClr val="0070C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기록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components/password_manager/core/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browser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/password_store/login_database.cc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=&gt; LoginDatabase::AddLogin</a:t>
            </a:r>
            <a:endParaRPr lang="en-US" altLang="ko-KR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ct val="100000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ct val="100000"/>
              <a:buAutoNum type="arabicPeriod"/>
            </a:pPr>
            <a:r>
              <a:rPr lang="en-US" altLang="ko-KR">
                <a:solidFill>
                  <a:srgbClr val="0070C0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autofill</a:t>
            </a:r>
            <a:br>
              <a:rPr lang="en-US" altLang="ko-KR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components/autofill/contents/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renderer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/password_autofill_agent.cc 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=&gt; FillPasswordForm</a:t>
            </a:r>
          </a:p>
          <a:p>
            <a:pPr marL="342900" lvl="2" indent="-342900">
              <a:buSzPts val="1600"/>
              <a:buAutoNum type="arabicPeriod"/>
            </a:pPr>
            <a:endParaRPr lang="en-US" altLang="ko-KR" sz="18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53B8D81E-7ACC-D283-A417-3336204D18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Autofill Flow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314C9BD-6C4D-7FE6-6A3D-A3E6661910A7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144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77BF329B-1AF7-9154-6812-F7546104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0097846B-6A26-D55B-1363-35BCCC08996B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2" indent="-342900">
              <a:buSzPts val="1600"/>
              <a:buAutoNum type="arabicPeriod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chrome/</a:t>
            </a:r>
            <a: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browser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/os_crypt/app_bound_encryption_provider_win.cc/RetrieveEncryptedKey()</a:t>
            </a:r>
          </a:p>
          <a:p>
            <a:pPr marL="342900" lvl="2" indent="-342900">
              <a:buSzPts val="1600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chrome/</a:t>
            </a:r>
            <a: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browser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/os_crypt/app_bound_encryption_provider_win.cc/GetKey()</a:t>
            </a:r>
            <a:endParaRPr lang="en-US" altLang="ko-KR" sz="1200" dirty="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E47DEEE8-100F-FFA5-5DA0-6B2D9E48AB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Encryption Flow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3C7151-4DB9-76DF-B823-9C31755B1256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85F2DC64-0783-5E78-6AD1-09A83AC9C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84" y="1165653"/>
            <a:ext cx="2926083" cy="930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CE27209-E182-EB10-ADBD-CC0BB34EE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84" y="2490776"/>
            <a:ext cx="2926083" cy="1112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3CD6441-1EF3-2BC1-E6EB-F0FD27B44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84" y="2602059"/>
            <a:ext cx="1656149" cy="1112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91B250E-C983-13E6-B689-DDD7FCFF2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85" y="2714077"/>
            <a:ext cx="2790616" cy="164841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21A3C41-4449-5CEE-CBBB-EC9939882C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831" y="1220475"/>
            <a:ext cx="3536446" cy="82110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D29C6B7-8ED3-1541-80A7-E07150550EA0}"/>
              </a:ext>
            </a:extLst>
          </p:cNvPr>
          <p:cNvSpPr/>
          <p:nvPr/>
        </p:nvSpPr>
        <p:spPr>
          <a:xfrm>
            <a:off x="866984" y="2490776"/>
            <a:ext cx="2926083" cy="187171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50CD1107-9355-F42E-B7A3-76A181A2D2B0}"/>
              </a:ext>
            </a:extLst>
          </p:cNvPr>
          <p:cNvSpPr/>
          <p:nvPr/>
        </p:nvSpPr>
        <p:spPr>
          <a:xfrm>
            <a:off x="3550908" y="3619233"/>
            <a:ext cx="351693" cy="55631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EADCA-B77B-FFFF-1022-445251E3ADFE}"/>
              </a:ext>
            </a:extLst>
          </p:cNvPr>
          <p:cNvSpPr txBox="1"/>
          <p:nvPr/>
        </p:nvSpPr>
        <p:spPr>
          <a:xfrm>
            <a:off x="3862221" y="3789668"/>
            <a:ext cx="4795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latin typeface="페이퍼로지 3 Light" pitchFamily="2" charset="-127"/>
                <a:ea typeface="페이퍼로지 3 Light" pitchFamily="2" charset="-127"/>
              </a:rPr>
              <a:t>키 처리</a:t>
            </a:r>
          </a:p>
        </p:txBody>
      </p:sp>
    </p:spTree>
    <p:extLst>
      <p:ext uri="{BB962C8B-B14F-4D97-AF65-F5344CB8AC3E}">
        <p14:creationId xmlns:p14="http://schemas.microsoft.com/office/powerpoint/2010/main" val="618341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CE90514E-7A69-D780-4674-860AC3F8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39E280B0-D853-2046-F256-5FA1BD64A234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2" indent="-228600">
              <a:buSzPts val="1600"/>
              <a:buFont typeface="+mj-lt"/>
              <a:buAutoNum type="arabicPeriod" startAt="3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components/os_crypt/async/common/encryptor.cc</a:t>
            </a:r>
          </a:p>
          <a:p>
            <a:pPr marL="342900" lvl="2" indent="-342900">
              <a:buSzPts val="1600"/>
              <a:buAutoNum type="arabicPeriod" startAt="3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 startAt="3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 startAt="3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 startAt="3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AutoNum type="arabicPeriod" startAt="3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2AC47E9-2505-0270-5428-FDDEF3E21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475445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Encryption Flow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27A1089-C6C2-ABE6-FE4A-5863A8BAC3BF}"/>
              </a:ext>
            </a:extLst>
          </p:cNvPr>
          <p:cNvCxnSpPr>
            <a:cxnSpLocks/>
          </p:cNvCxnSpPr>
          <p:nvPr/>
        </p:nvCxnSpPr>
        <p:spPr>
          <a:xfrm>
            <a:off x="387275" y="763285"/>
            <a:ext cx="49128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AF19E0B-067B-48C5-929B-9C711CC87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7" y="1245750"/>
            <a:ext cx="2631560" cy="2651999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D1635C-D4CB-6BF9-5C0E-EA0C0B92DD1C}"/>
              </a:ext>
            </a:extLst>
          </p:cNvPr>
          <p:cNvSpPr txBox="1"/>
          <p:nvPr/>
        </p:nvSpPr>
        <p:spPr>
          <a:xfrm>
            <a:off x="1294196" y="3955366"/>
            <a:ext cx="1525203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- key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 세팅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(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메모리에 올림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)</a:t>
            </a: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CryptProtectMem(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키 보호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)</a:t>
            </a: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- Algorithm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9DD4068-62EA-9C7E-5342-575145A0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680" y="213784"/>
            <a:ext cx="2981400" cy="471593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46142E-1A9E-1312-8833-7727D663C470}"/>
              </a:ext>
            </a:extLst>
          </p:cNvPr>
          <p:cNvSpPr txBox="1"/>
          <p:nvPr/>
        </p:nvSpPr>
        <p:spPr>
          <a:xfrm>
            <a:off x="3799136" y="2123052"/>
            <a:ext cx="1612774" cy="830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- key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확보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(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메모리에서 읽음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)</a:t>
            </a: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CryptUnprotectMem(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키 확보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)</a:t>
            </a: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-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난수 생성</a:t>
            </a:r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(IV, Nonce)</a:t>
            </a: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crypto::RandBytes(nonce) </a:t>
            </a: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- </a:t>
            </a:r>
            <a:r>
              <a:rPr lang="ko-KR" altLang="en-US" sz="800">
                <a:latin typeface="페이퍼로지 2 ExtraLight" pitchFamily="2" charset="-127"/>
                <a:ea typeface="페이퍼로지 2 ExtraLight" pitchFamily="2" charset="-127"/>
              </a:rPr>
              <a:t>암호화 엔진 적용</a:t>
            </a:r>
            <a:endParaRPr lang="en-US" altLang="ko-KR" sz="800">
              <a:latin typeface="페이퍼로지 2 ExtraLight" pitchFamily="2" charset="-127"/>
              <a:ea typeface="페이퍼로지 2 ExtraLight" pitchFamily="2" charset="-127"/>
            </a:endParaRPr>
          </a:p>
          <a:p>
            <a:r>
              <a:rPr lang="en-US" altLang="ko-KR" sz="800">
                <a:latin typeface="페이퍼로지 2 ExtraLight" pitchFamily="2" charset="-127"/>
                <a:ea typeface="페이퍼로지 2 ExtraLight" pitchFamily="2" charset="-127"/>
              </a:rPr>
              <a:t>aead.Seal(plaintext, nonce, ...)</a:t>
            </a:r>
            <a:endParaRPr lang="ko-KR" altLang="en-US" sz="800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934A46-DCBE-DDDF-7FC2-F5A241147B99}"/>
              </a:ext>
            </a:extLst>
          </p:cNvPr>
          <p:cNvSpPr/>
          <p:nvPr/>
        </p:nvSpPr>
        <p:spPr>
          <a:xfrm>
            <a:off x="735356" y="2306441"/>
            <a:ext cx="2528451" cy="34713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D20CEF-DFE8-CDC0-570A-46DDB634AE44}"/>
              </a:ext>
            </a:extLst>
          </p:cNvPr>
          <p:cNvSpPr/>
          <p:nvPr/>
        </p:nvSpPr>
        <p:spPr>
          <a:xfrm>
            <a:off x="726288" y="3007208"/>
            <a:ext cx="2392327" cy="70004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9FAD35D-ED98-4188-DD3E-8AC24FE967BF}"/>
              </a:ext>
            </a:extLst>
          </p:cNvPr>
          <p:cNvSpPr/>
          <p:nvPr/>
        </p:nvSpPr>
        <p:spPr>
          <a:xfrm>
            <a:off x="5697812" y="746351"/>
            <a:ext cx="2832325" cy="31920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8B31C1-74CA-8522-5F70-8D114206CC83}"/>
              </a:ext>
            </a:extLst>
          </p:cNvPr>
          <p:cNvSpPr/>
          <p:nvPr/>
        </p:nvSpPr>
        <p:spPr>
          <a:xfrm>
            <a:off x="5740198" y="1809116"/>
            <a:ext cx="2710364" cy="629284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480CA2F-1CE3-7DB5-AD70-CCBDE290B32C}"/>
              </a:ext>
            </a:extLst>
          </p:cNvPr>
          <p:cNvSpPr/>
          <p:nvPr/>
        </p:nvSpPr>
        <p:spPr>
          <a:xfrm>
            <a:off x="5740198" y="3084832"/>
            <a:ext cx="2710364" cy="44558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09C0FC8-A713-FEA5-F13A-E20E65AE42BB}"/>
              </a:ext>
            </a:extLst>
          </p:cNvPr>
          <p:cNvCxnSpPr/>
          <p:nvPr/>
        </p:nvCxnSpPr>
        <p:spPr>
          <a:xfrm flipV="1">
            <a:off x="1707306" y="2123052"/>
            <a:ext cx="292275" cy="3153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1C11D82-5BBD-704D-7072-81ACAF1FAB32}"/>
              </a:ext>
            </a:extLst>
          </p:cNvPr>
          <p:cNvSpPr txBox="1"/>
          <p:nvPr/>
        </p:nvSpPr>
        <p:spPr>
          <a:xfrm>
            <a:off x="1738604" y="1976058"/>
            <a:ext cx="1380011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00" u="sng">
                <a:latin typeface="페이퍼로지 2 ExtraLight" pitchFamily="2" charset="-127"/>
                <a:ea typeface="페이퍼로지 2 ExtraLight" pitchFamily="2" charset="-127"/>
              </a:rPr>
              <a:t>CryptProtectMemory </a:t>
            </a:r>
            <a:r>
              <a:rPr lang="en-US" altLang="ko-KR" sz="600" u="sng"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</a:t>
            </a:r>
            <a:r>
              <a:rPr lang="en-US" altLang="ko-KR" sz="600" u="sng">
                <a:latin typeface="페이퍼로지 2 ExtraLight" pitchFamily="2" charset="-127"/>
                <a:ea typeface="페이퍼로지 2 ExtraLight" pitchFamily="2" charset="-127"/>
              </a:rPr>
              <a:t> DPAPI</a:t>
            </a:r>
            <a:endParaRPr lang="ko-KR" altLang="en-US" sz="600" u="sng">
              <a:latin typeface="페이퍼로지 2 ExtraLight" pitchFamily="2" charset="-127"/>
              <a:ea typeface="페이퍼로지 2 ExtraLight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A5B148-35C6-8F9A-7B2E-1B91D0178F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877"/>
          <a:stretch>
            <a:fillRect/>
          </a:stretch>
        </p:blipFill>
        <p:spPr>
          <a:xfrm>
            <a:off x="3320294" y="3139290"/>
            <a:ext cx="1829186" cy="163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712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94A51DEE-F544-77FE-C7F3-5E682B989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>
            <a:extLst>
              <a:ext uri="{FF2B5EF4-FFF2-40B4-BE49-F238E27FC236}">
                <a16:creationId xmlns:a16="http://schemas.microsoft.com/office/drawing/2014/main" id="{54AB328D-EFC4-1EAF-16E2-79329C1578B0}"/>
              </a:ext>
            </a:extLst>
          </p:cNvPr>
          <p:cNvSpPr txBox="1"/>
          <p:nvPr/>
        </p:nvSpPr>
        <p:spPr>
          <a:xfrm flipH="1">
            <a:off x="452550" y="885617"/>
            <a:ext cx="8238900" cy="413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2" indent="-342900">
              <a:buSzPts val="1600"/>
              <a:buFont typeface="+mj-lt"/>
              <a:buAutoNum type="arabicPeriod" startAt="4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components/password_manager/core/</a:t>
            </a:r>
            <a:r>
              <a:rPr lang="en-US" altLang="ko-KR" sz="1200">
                <a:solidFill>
                  <a:schemeClr val="accent3">
                    <a:lumMod val="75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browser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/password_store/login_database.cc =&gt; AddLogin</a:t>
            </a: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b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</a:b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&gt;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비밀번호 받고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ko-KR" altLang="en-US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암호화 엔진에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던져주고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 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Wingdings" panose="05000000000000000000" pitchFamily="2" charset="2"/>
              </a:rPr>
              <a:t>결과를 받아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DB</a:t>
            </a:r>
            <a:r>
              <a:rPr lang="ko-KR" altLang="en-US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에 저장 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(</a:t>
            </a:r>
            <a:r>
              <a:rPr lang="ko-KR" altLang="en-US" sz="12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서버와 동기화도 적용</a:t>
            </a:r>
            <a:r>
              <a:rPr lang="en-US" altLang="ko-KR" sz="1200">
                <a:solidFill>
                  <a:schemeClr val="bg1">
                    <a:lumMod val="50000"/>
                  </a:schemeClr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)</a:t>
            </a:r>
          </a:p>
          <a:p>
            <a:pPr marL="342900" lvl="2" indent="-342900">
              <a:buSzPts val="1600"/>
              <a:buFont typeface="+mj-lt"/>
              <a:buAutoNum type="arabicPeriod" startAt="4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Font typeface="+mj-lt"/>
              <a:buAutoNum type="arabicPeriod" startAt="4"/>
            </a:pP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components/os_crypt/async/common/</a:t>
            </a:r>
            <a:r>
              <a:rPr lang="en-US" altLang="ko-KR" sz="1200">
                <a:solidFill>
                  <a:srgbClr val="9933FF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encryptor</a:t>
            </a:r>
            <a:r>
              <a:rPr lang="en-US" altLang="ko-KR" sz="1200">
                <a:solidFill>
                  <a:schemeClr val="dk1"/>
                </a:solidFill>
                <a:latin typeface="페이퍼로지 4 Regular" charset="-127"/>
                <a:ea typeface="페이퍼로지 4 Regular" charset="-127"/>
                <a:cs typeface="Montserrat SemiBold"/>
                <a:sym typeface="Montserrat SemiBold"/>
              </a:rPr>
              <a:t>.cc =&gt; EncryptString</a:t>
            </a:r>
          </a:p>
          <a:p>
            <a:pPr marL="342900" lvl="2" indent="-342900">
              <a:buSzPts val="1600"/>
              <a:buFont typeface="+mj-lt"/>
              <a:buAutoNum type="arabicPeriod" startAt="4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Font typeface="+mj-lt"/>
              <a:buAutoNum type="arabicPeriod" startAt="4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  <a:p>
            <a:pPr marL="342900" lvl="2" indent="-342900">
              <a:buSzPts val="1600"/>
              <a:buFont typeface="+mj-lt"/>
              <a:buAutoNum type="arabicPeriod" startAt="4"/>
            </a:pPr>
            <a:endParaRPr lang="en-US" altLang="ko-KR" sz="1200">
              <a:solidFill>
                <a:schemeClr val="dk1"/>
              </a:solidFill>
              <a:latin typeface="페이퍼로지 4 Regular" charset="-127"/>
              <a:ea typeface="페이퍼로지 4 Regular" charset="-127"/>
              <a:cs typeface="Montserrat SemiBold"/>
              <a:sym typeface="Montserrat SemiBold"/>
            </a:endParaRPr>
          </a:p>
        </p:txBody>
      </p:sp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D8BBB2AC-853E-F6EC-5625-70E49F768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21018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Encryption Flow</a:t>
            </a:r>
            <a:endParaRPr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4935D44-BDCF-D1E7-9125-6833ECDB57DB}"/>
              </a:ext>
            </a:extLst>
          </p:cNvPr>
          <p:cNvCxnSpPr/>
          <p:nvPr/>
        </p:nvCxnSpPr>
        <p:spPr>
          <a:xfrm>
            <a:off x="387275" y="763285"/>
            <a:ext cx="8240358" cy="0"/>
          </a:xfrm>
          <a:prstGeom prst="line">
            <a:avLst/>
          </a:prstGeom>
          <a:ln w="38100">
            <a:solidFill>
              <a:srgbClr val="51EE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125F9B9-724D-0F4A-B420-C47A2F839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338" y="2037778"/>
            <a:ext cx="3811323" cy="2620712"/>
          </a:xfrm>
          <a:prstGeom prst="rect">
            <a:avLst/>
          </a:prstGeom>
          <a:ln>
            <a:solidFill>
              <a:srgbClr val="9933FF"/>
            </a:solidFill>
          </a:ln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515B763-4699-FA0D-8643-242F582E562D}"/>
              </a:ext>
            </a:extLst>
          </p:cNvPr>
          <p:cNvCxnSpPr/>
          <p:nvPr/>
        </p:nvCxnSpPr>
        <p:spPr>
          <a:xfrm>
            <a:off x="2865120" y="1483360"/>
            <a:ext cx="1137920" cy="182880"/>
          </a:xfrm>
          <a:prstGeom prst="straightConnector1">
            <a:avLst/>
          </a:prstGeom>
          <a:ln>
            <a:solidFill>
              <a:srgbClr val="99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971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>
          <a:extLst>
            <a:ext uri="{FF2B5EF4-FFF2-40B4-BE49-F238E27FC236}">
              <a16:creationId xmlns:a16="http://schemas.microsoft.com/office/drawing/2014/main" id="{B34D396A-4999-660B-FEB9-04B788350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>
            <a:extLst>
              <a:ext uri="{FF2B5EF4-FFF2-40B4-BE49-F238E27FC236}">
                <a16:creationId xmlns:a16="http://schemas.microsoft.com/office/drawing/2014/main" id="{68846D92-0BEB-C31F-DAEA-EF1A261CA1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550" y="1889640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Thank you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80057775"/>
      </p:ext>
    </p:extLst>
  </p:cSld>
  <p:clrMapOvr>
    <a:masterClrMapping/>
  </p:clrMapOvr>
</p:sld>
</file>

<file path=ppt/theme/theme1.xml><?xml version="1.0" encoding="utf-8"?>
<a:theme xmlns:a="http://schemas.openxmlformats.org/drawingml/2006/main" name="Energy Infographics by Slidesgo">
  <a:themeElements>
    <a:clrScheme name="Simple Light">
      <a:dk1>
        <a:srgbClr val="000000"/>
      </a:dk1>
      <a:lt1>
        <a:srgbClr val="FFFFFF"/>
      </a:lt1>
      <a:dk2>
        <a:srgbClr val="E9E9E9"/>
      </a:dk2>
      <a:lt2>
        <a:srgbClr val="A7A7A7"/>
      </a:lt2>
      <a:accent1>
        <a:srgbClr val="51EEBC"/>
      </a:accent1>
      <a:accent2>
        <a:srgbClr val="ECBF69"/>
      </a:accent2>
      <a:accent3>
        <a:srgbClr val="8DB6FA"/>
      </a:accent3>
      <a:accent4>
        <a:srgbClr val="FAA4B5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13_Hash</Template>
  <TotalTime>2745</TotalTime>
  <Words>2756</Words>
  <Application>Microsoft Office PowerPoint</Application>
  <PresentationFormat>화면 슬라이드 쇼(16:9)</PresentationFormat>
  <Paragraphs>356</Paragraphs>
  <Slides>29</Slides>
  <Notes>29</Notes>
  <HiddenSlides>0</HiddenSlides>
  <MMClips>1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3" baseType="lpstr">
      <vt:lpstr>페이퍼로지 2 ExtraLight</vt:lpstr>
      <vt:lpstr>페이퍼로지 7 Bold</vt:lpstr>
      <vt:lpstr>Montserrat</vt:lpstr>
      <vt:lpstr>D2Coding</vt:lpstr>
      <vt:lpstr>페이퍼로지 9 Black</vt:lpstr>
      <vt:lpstr>페이퍼로지 6 SemiBold</vt:lpstr>
      <vt:lpstr>페이퍼로지 1 Thin</vt:lpstr>
      <vt:lpstr>페이퍼로지 4 Regular</vt:lpstr>
      <vt:lpstr>Arial</vt:lpstr>
      <vt:lpstr>맑은 고딕</vt:lpstr>
      <vt:lpstr>페이퍼로지 3 Light</vt:lpstr>
      <vt:lpstr>Montserrat Medium</vt:lpstr>
      <vt:lpstr>Wingdings</vt:lpstr>
      <vt:lpstr>Energy Infographics by Slidesgo</vt:lpstr>
      <vt:lpstr>A Technical Deep Dive into   Chrome’s password_value Encryption</vt:lpstr>
      <vt:lpstr>Overview</vt:lpstr>
      <vt:lpstr>Chrome Security Architecture</vt:lpstr>
      <vt:lpstr>Chrome changes by version</vt:lpstr>
      <vt:lpstr>elevation_service.exe</vt:lpstr>
      <vt:lpstr>COM Interface (diff. 1, 2)</vt:lpstr>
      <vt:lpstr>COM Interface (IElevator2)</vt:lpstr>
      <vt:lpstr>Mojo IPC</vt:lpstr>
      <vt:lpstr>Mojo IPC</vt:lpstr>
      <vt:lpstr>App-Bound En/Decryption Details</vt:lpstr>
      <vt:lpstr>` v20 ` chrome/elevation_service/...</vt:lpstr>
      <vt:lpstr>PowerPoint 프레젠테이션</vt:lpstr>
      <vt:lpstr>PowerPoint 프레젠테이션</vt:lpstr>
      <vt:lpstr>PowerPoint 프레젠테이션</vt:lpstr>
      <vt:lpstr>PowerPoint 프레젠테이션</vt:lpstr>
      <vt:lpstr>“ v10 ” components/os_crypt/sync/os_crypt_win.cc</vt:lpstr>
      <vt:lpstr>“ v20 ” chrome/browser/os_crypt/</vt:lpstr>
      <vt:lpstr>COM: Component Object Model</vt:lpstr>
      <vt:lpstr>Overview</vt:lpstr>
      <vt:lpstr>“ v20 ” chrome/browser/os_crypt/</vt:lpstr>
      <vt:lpstr>PowerPoint 프레젠테이션</vt:lpstr>
      <vt:lpstr>PowerPoint 프레젠테이션</vt:lpstr>
      <vt:lpstr>Note. autofill</vt:lpstr>
      <vt:lpstr>Note. autofill</vt:lpstr>
      <vt:lpstr>Autofill Flow</vt:lpstr>
      <vt:lpstr>Encryption Flow</vt:lpstr>
      <vt:lpstr>Encryption Flow</vt:lpstr>
      <vt:lpstr>Encryption Flow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박세원</dc:creator>
  <cp:lastModifiedBy>박세원</cp:lastModifiedBy>
  <cp:revision>655</cp:revision>
  <dcterms:created xsi:type="dcterms:W3CDTF">2026-02-25T09:00:40Z</dcterms:created>
  <dcterms:modified xsi:type="dcterms:W3CDTF">2026-05-06T07:05:40Z</dcterms:modified>
</cp:coreProperties>
</file>