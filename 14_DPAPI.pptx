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2"/>
  </p:notesMasterIdLst>
  <p:sldIdLst>
    <p:sldId id="256" r:id="rId2"/>
    <p:sldId id="345" r:id="rId3"/>
    <p:sldId id="438" r:id="rId4"/>
    <p:sldId id="452" r:id="rId5"/>
    <p:sldId id="445" r:id="rId6"/>
    <p:sldId id="437" r:id="rId7"/>
    <p:sldId id="443" r:id="rId8"/>
    <p:sldId id="440" r:id="rId9"/>
    <p:sldId id="442" r:id="rId10"/>
    <p:sldId id="439" r:id="rId11"/>
    <p:sldId id="441" r:id="rId12"/>
    <p:sldId id="444" r:id="rId13"/>
    <p:sldId id="446" r:id="rId14"/>
    <p:sldId id="447" r:id="rId15"/>
    <p:sldId id="448" r:id="rId16"/>
    <p:sldId id="449" r:id="rId17"/>
    <p:sldId id="450" r:id="rId18"/>
    <p:sldId id="451" r:id="rId19"/>
    <p:sldId id="409" r:id="rId20"/>
    <p:sldId id="287" r:id="rId2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Medium" panose="00000600000000000000" pitchFamily="2" charset="0"/>
      <p:regular r:id="rId27"/>
      <p:bold r:id="rId28"/>
      <p:italic r:id="rId29"/>
      <p:boldItalic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페이퍼로지 1 Thin" pitchFamily="2" charset="-127"/>
      <p:regular r:id="rId33"/>
    </p:embeddedFont>
    <p:embeddedFont>
      <p:font typeface="페이퍼로지 2 ExtraLight" pitchFamily="2" charset="-127"/>
      <p:regular r:id="rId34"/>
    </p:embeddedFont>
    <p:embeddedFont>
      <p:font typeface="페이퍼로지 4 Regular" pitchFamily="2" charset="-127"/>
      <p:regular r:id="rId35"/>
    </p:embeddedFont>
    <p:embeddedFont>
      <p:font typeface="페이퍼로지 6 SemiBold" pitchFamily="2" charset="-127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33CC33"/>
    <a:srgbClr val="FFFFFF"/>
    <a:srgbClr val="8DB6FA"/>
    <a:srgbClr val="92D050"/>
    <a:srgbClr val="009900"/>
    <a:srgbClr val="00B0F0"/>
    <a:srgbClr val="336600"/>
    <a:srgbClr val="FAA4B5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8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DBE520-CDFC-E8C5-EEBD-C90BF4F0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5358D2-3B03-894F-00B1-0A5343485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84E2CFD-BA4C-F1A5-B72B-FFC3028F4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701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CAFA046-5A40-1FE9-7A08-5CFE53B0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0110484-20EE-A05B-FF69-A060A3F3B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03B1356-6620-5DD2-AA46-F80C97C7B3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3479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4FC54FB-598E-E741-6ACF-CE4443EB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18E2C6A-5AEE-924D-FF06-A9A505253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33B3BF8-DE1A-95F0-38F9-25E9512A7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88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BD796F-D6AD-E394-861A-72EC13A0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48C5AEF-B308-74DC-E5CF-6E32F1FB3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DD06A9B-94DC-4F52-0F82-960E21542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https://learn.microsoft.com/en-us/previous-versions/ms995355(v=msdn.10)#using-dpapi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8177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**PBKDF2**: Password-Based Key Derivation Function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5911177-43BF-65BD-F846-11FBCEA3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13D8F00-3B19-26FA-553C-B3C1C0115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A461115-A9C1-2BDF-BD1D-27DB7FE3C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36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4B2CC34-194E-1C4E-979E-C0282F0F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E17A19C-9907-4388-2140-00B00FE35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96EBAB8-2EA0-B6D5-1123-52F67D72E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568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44A91AF-8714-02AB-5522-DEC9DBC71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35013C21-05CC-8037-C9FA-648641256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CDC8DCF-1207-30A2-C884-40E3937220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210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ACABF15-D22A-EB67-DF0F-8799DF21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7D90F61-F2FB-08B0-F135-AAC7E5516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FD6817F-959A-5502-C9C4-81AF7228E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468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1399D8E-8E3E-27B8-2016-9242926E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77D0865-491A-D50C-CB47-9D04F71A1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779D0E2-91B6-1975-51A9-AF2B2655D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8713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AFBBC63-7E94-9754-C2B0-6572B470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0A366FA-944B-A603-D465-809315AD0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D6A8CF-50AD-5FF4-5092-1E0E6D468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592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AD0B76E-EDAA-B8E8-75D2-520DDDED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1B96340-6B49-912A-AEF5-E3109FCE39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39A0E5E-A6F4-5036-182D-BECFE0516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마스터키가 처음에는 어덯게 생성되는데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45713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1D9998B-E874-A2B9-4B7B-4E9A54EF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DEFAF76-6E55-7C0C-D937-4009F4AF9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D99DF8F-C38E-87DB-9900-4B56895C8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2882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debug/pe-format#the-attribute-certificate-table-image-onl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quora.com/Why-are-hash-functions-one-way-If-I-know-the-algorithm-why-cant-I-calculate-the-input-from-it" TargetMode="External"/><Relationship Id="rId5" Type="http://schemas.openxmlformats.org/officeDocument/2006/relationships/hyperlink" Target="https://m.blog.naver.com/jvioonpe/221384924295" TargetMode="External"/><Relationship Id="rId4" Type="http://schemas.openxmlformats.org/officeDocument/2006/relationships/hyperlink" Target="https://velog.io/@superkkj/AES-256-GCM-%EC%99%84%EC%A0%84-%EC%A0%95%EB%B3%B5-finger-basic-%EA%B0%9C%EC%9D%B8%EC%A0%95%EB%B3%B4-%EC%95%94%ED%98%B8%ED%99%94-%EC%A0%84%EC%B2%B4-%ED%9D%90%EB%A6%84-Encrypt-Decrypt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1691371" y="1425547"/>
            <a:ext cx="5761256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about.  </a:t>
            </a:r>
            <a:r>
              <a:rPr lang="en-US"/>
              <a:t>DPAPI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 dirty="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 dirty="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4ACEF20-67BF-C1EF-810A-AB2F4435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3B6B331-BFD3-43AA-16E7-0F49E57F059F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Overview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marR="0" lvl="0" indent="-185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Concepts</a:t>
            </a:r>
          </a:p>
          <a:p>
            <a:pPr marL="360363" marR="0" lvl="0" indent="-185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Coverage</a:t>
            </a:r>
          </a:p>
          <a:p>
            <a:pPr marL="360363" marR="0" lvl="0" indent="-185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version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Operation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Keys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1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 구조와 키 파생 원리</a:t>
            </a: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1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Key, Session Key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Secrets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Functions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AFE6C03-798D-CD87-1C91-C47CCD364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9182BB-CE65-7A7F-D6FF-F08D370ACE5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79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Concepts</a:t>
            </a:r>
          </a:p>
          <a:p>
            <a:pPr lvl="2">
              <a:buSzPts val="1600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06450" lvl="2" indent="-623888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 Level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암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복호화를 쉽게 진행할 수 있도록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Win32API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제공해주는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API </a:t>
            </a:r>
          </a:p>
          <a:p>
            <a:pPr marL="806450" lvl="2" indent="-623888">
              <a:buSzPts val="1600"/>
            </a:pP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Windows</a:t>
            </a:r>
            <a:r>
              <a:rPr lang="ko-KR" altLang="en-US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실행되는 </a:t>
            </a: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SW</a:t>
            </a:r>
            <a:r>
              <a:rPr lang="ko-KR" altLang="en-US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만들 때 대칭</a:t>
            </a: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비대칭 암호화를 사용해야 하는 경우가 많음</a:t>
            </a: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806450" lvl="2" indent="-623888"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06450" lvl="2" indent="-623888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06450" lvl="2" indent="-623888">
              <a:buSzPts val="1600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개발자들이 안전하고 편리하게 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</a:t>
            </a:r>
            <a:r>
              <a:rPr lang="en-US" altLang="ko-KR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진행할 수 있도록 도와주는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API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함수들의 집합이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</a:p>
          <a:p>
            <a:pPr marL="806450" lvl="2" indent="-623888"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3038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+ DPAPI *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*Master Key**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통해 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Symmetric /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Asymmetric Key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안전하게 암호화하거나 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생성하고 보관할 수 있도록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 Management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사용되기도 한다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355600" lvl="2" indent="-173038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brief.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개발자 입장에서 암호화는 난해하니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outsourcing..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8402781-A833-EAD4-EACE-25D4812EF8D6}"/>
              </a:ext>
            </a:extLst>
          </p:cNvPr>
          <p:cNvSpPr txBox="1"/>
          <p:nvPr/>
        </p:nvSpPr>
        <p:spPr>
          <a:xfrm>
            <a:off x="388734" y="4914760"/>
            <a:ext cx="8238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DPAPI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가 사용된 데이터는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DPAPI Secrets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라고도 불림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. </a:t>
            </a:r>
            <a:endParaRPr lang="ko-KR" altLang="en-US" sz="800">
              <a:latin typeface="페이퍼로지 1 Thin" pitchFamily="2" charset="-127"/>
              <a:ea typeface="페이퍼로지 1 Thin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5EC9AEA-6665-DC4F-1EDF-66E7A007ADC9}"/>
              </a:ext>
            </a:extLst>
          </p:cNvPr>
          <p:cNvCxnSpPr>
            <a:cxnSpLocks/>
          </p:cNvCxnSpPr>
          <p:nvPr/>
        </p:nvCxnSpPr>
        <p:spPr>
          <a:xfrm>
            <a:off x="664369" y="2321719"/>
            <a:ext cx="0" cy="9501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63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E84496E-832B-5F3C-6FDF-36A61FD2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31D1448-D6CB-65AD-155C-B0C9AA1944C1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Coverage (of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DPAPI)</a:t>
            </a:r>
          </a:p>
          <a:p>
            <a:pPr lvl="2">
              <a:buSzPts val="1600"/>
            </a:pPr>
            <a:endParaRPr lang="en-US" altLang="ko-KR" sz="4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운영체제의 근간을 이루는 다양한 매커니즘 또한 해당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API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의존하고 있다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 Application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Layer</a:t>
            </a: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Chromium based browsers: Chrome, Edge, Firefox, etc. </a:t>
            </a:r>
          </a:p>
          <a:p>
            <a:pPr marL="534988" lvl="2" indent="-174625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로그인 자격 증명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(id/pw)</a:t>
            </a:r>
          </a:p>
          <a:p>
            <a:pPr marL="534988" lvl="2" indent="-174625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인증 쿠키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세션 유지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534988" lvl="2" indent="-174625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Data etc.</a:t>
            </a:r>
          </a:p>
          <a:p>
            <a:pPr marL="534988" lvl="2" indent="-174625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4625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로컬 스토리지에 저장할 때 반드시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호출해 데이터를 암호화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Outlook(pw), Skype(data), Azure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인프라 접근을 위한 영구 토큰 캐싱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Windows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키 관리 체계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역시 해당 암호화 엔진을 사용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</a:t>
            </a: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공유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원격 데스크톱 세션 인증을 위해 사용되는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자격 증명 관리자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(Credential Manager)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데이터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BitLocker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드라이브 암호화 복구 키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etc. </a:t>
            </a:r>
          </a:p>
          <a:p>
            <a:pPr marL="360363" lvl="2" indent="-185738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역시 해당 암호화 엔진을 사용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 Network</a:t>
            </a: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Wi-Fi pw, VPN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연결 자격 증명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etc.</a:t>
            </a: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많이들 쓰니까 마스터 키 유출되면 큰일이야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..!!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C5B9C5B-7235-7F7C-72F3-2C4F45A55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BC1036B-DB88-7C93-0906-E3D9FE76FCF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BF7C4E2-0C95-99B4-F00F-1AC9FB7E66E3}"/>
              </a:ext>
            </a:extLst>
          </p:cNvPr>
          <p:cNvCxnSpPr>
            <a:cxnSpLocks/>
          </p:cNvCxnSpPr>
          <p:nvPr/>
        </p:nvCxnSpPr>
        <p:spPr>
          <a:xfrm>
            <a:off x="654641" y="1854791"/>
            <a:ext cx="0" cy="125806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0205A69-287A-72E6-897F-77CA1EED18E2}"/>
              </a:ext>
            </a:extLst>
          </p:cNvPr>
          <p:cNvCxnSpPr>
            <a:cxnSpLocks/>
          </p:cNvCxnSpPr>
          <p:nvPr/>
        </p:nvCxnSpPr>
        <p:spPr>
          <a:xfrm>
            <a:off x="654641" y="3466340"/>
            <a:ext cx="0" cy="483090"/>
          </a:xfrm>
          <a:prstGeom prst="line">
            <a:avLst/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07CA852-8EFA-1C32-7DE9-BBA84F07D8D1}"/>
              </a:ext>
            </a:extLst>
          </p:cNvPr>
          <p:cNvCxnSpPr>
            <a:cxnSpLocks/>
          </p:cNvCxnSpPr>
          <p:nvPr/>
        </p:nvCxnSpPr>
        <p:spPr>
          <a:xfrm>
            <a:off x="654641" y="4309404"/>
            <a:ext cx="0" cy="155592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래픽 15" descr="활짝 웃으며 땀 흘리는 얼굴(윤곽선) 단색으로 채워진">
            <a:extLst>
              <a:ext uri="{FF2B5EF4-FFF2-40B4-BE49-F238E27FC236}">
                <a16:creationId xmlns:a16="http://schemas.microsoft.com/office/drawing/2014/main" id="{18486C05-24DB-B682-C73B-5D43119DF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5380" y="4445591"/>
            <a:ext cx="492025" cy="49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A053C86-668A-7E87-0491-6FB354AB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9E9616B-0EF6-9E1C-5668-25896E533D1C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/ CNG-DPAPI</a:t>
            </a:r>
          </a:p>
          <a:p>
            <a:pPr lvl="2" algn="ctr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최신 버전의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</a:t>
            </a:r>
            <a:r>
              <a:rPr lang="ko-KR" altLang="en-US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여전히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Legacy DPAPI </a:t>
            </a:r>
            <a:r>
              <a:rPr lang="ko-KR" altLang="en-US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CNG-DPAPI: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여러 기기 간에 데이터를 공유하고 클라우드 환경에서 로밍하는데 목적 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Legacy(All dump in memory)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비해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대용량 처리를 위한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(Stream I/O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지원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Characteristics</a:t>
            </a:r>
          </a:p>
          <a:p>
            <a:pPr marL="446088" lvl="2" indent="-268288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단일 컴퓨터 내에서만 정적 데이터 암호화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한계 극복을 위함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데이터를 풀 수 있는 주체 집합 정의 가능 </a:t>
            </a:r>
            <a:endParaRPr lang="en-US" altLang="ko-KR" sz="12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714375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**Active Directory** 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 특정 사용자 그룹</a:t>
            </a:r>
            <a:endParaRPr lang="en-US" altLang="ko-KR" sz="12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714375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웹 자격 증명 </a:t>
            </a: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(Web Credential)</a:t>
            </a: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주요 함수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CryptProtectData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NCryptCreateProtectionDescriptor: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보호 대상 생성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NCryptProtectSecret: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데이터 암호화 수행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7"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7"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SDDL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형태로 사용자의 권한을 지정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(e.g. GA;;A;;GX)</a:t>
            </a:r>
          </a:p>
          <a:p>
            <a:pPr marL="446088" lvl="2" indent="-26828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46088" lvl="2" indent="-26828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Summary of CNG-DPAPI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나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Cloud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통해 인증서를 안전하게 공유해야 하는 분산 환경에서 사용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BF28763-5992-6454-55FE-B1A050E2B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037593D-C76A-8ABB-27A1-750175386BB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CEB2BEC-5FA9-C088-FE9B-560CAD2EAFEB}"/>
              </a:ext>
            </a:extLst>
          </p:cNvPr>
          <p:cNvCxnSpPr>
            <a:cxnSpLocks/>
          </p:cNvCxnSpPr>
          <p:nvPr/>
        </p:nvCxnSpPr>
        <p:spPr>
          <a:xfrm>
            <a:off x="758938" y="2215106"/>
            <a:ext cx="0" cy="1919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E2F21D-79B2-230F-31B6-343F242DCF04}"/>
              </a:ext>
            </a:extLst>
          </p:cNvPr>
          <p:cNvSpPr txBox="1"/>
          <p:nvPr/>
        </p:nvSpPr>
        <p:spPr>
          <a:xfrm>
            <a:off x="388734" y="4914760"/>
            <a:ext cx="8238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AD: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Windows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기반 중앙 집중 관리 서비스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.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사용자 계정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,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컴퓨터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,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프린터 및 보안 정책과 같은 네트워크 상의 모든 정보를 계층형 디렉터리에 저장한 형태</a:t>
            </a:r>
          </a:p>
        </p:txBody>
      </p:sp>
    </p:spTree>
    <p:extLst>
      <p:ext uri="{BB962C8B-B14F-4D97-AF65-F5344CB8AC3E}">
        <p14:creationId xmlns:p14="http://schemas.microsoft.com/office/powerpoint/2010/main" val="317387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(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키 관리의 자동화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-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(CryptProtectData)</a:t>
            </a:r>
          </a:p>
          <a:p>
            <a:pPr lvl="2">
              <a:buSzPts val="1600"/>
            </a:pP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</a:pP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입력받아 마스터 키를 기반으로 암호화를 수행하고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결과적으로 암호화된 페이로드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사용된 알고리즘 정보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무결성 검증을 위한 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MAC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등이 포함된 복합적인 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반환한다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함수가 호출되면 내부적으로는 해당 데이터 암호화를 위한 고유한 세션 키가 파생된다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-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(CryptUnprotectData)</a:t>
            </a:r>
          </a:p>
          <a:p>
            <a:pPr lvl="2">
              <a:buSzPts val="1600"/>
            </a:pP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</a:pP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시 생성되었던 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</a:t>
            </a: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분석해 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MAC </a:t>
            </a: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기반의 무결성 검증 절차를 거친 후에 데이터 위변조가 없음을 확정하면 세션 키를 재도출하여 원래의 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</a:t>
            </a: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디코딩한다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암호화를 수행했던 당시 사용자 계정 자격 증명과 동일한 컨텍스트 내에서 실행되어야만</a:t>
            </a:r>
            <a:r>
              <a:rPr lang="en-US" altLang="ko-KR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허가</a:t>
            </a:r>
            <a:endParaRPr lang="en-US" altLang="ko-KR" sz="1000">
              <a:solidFill>
                <a:schemeClr val="tx2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</a:pP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물리적으로 동일한 컴퓨터에서 실행되어야 하지만</a:t>
            </a:r>
            <a:r>
              <a:rPr lang="en-US" altLang="ko-KR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Roaming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프로필이 구성된 환경의 경우 다른 컴퓨터에서도 가능</a:t>
            </a:r>
            <a:endParaRPr lang="en-US" altLang="ko-KR" sz="1000">
              <a:solidFill>
                <a:schemeClr val="tx2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</a:t>
            </a:r>
            <a:endParaRPr lang="en-US" altLang="ko-KR" sz="8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4625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LSASS.exe (Local Security Authority Subsystem Service)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함수 요청을 전달</a:t>
            </a: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</a:p>
          <a:p>
            <a:pPr marL="360363" lvl="2">
              <a:buSzPts val="1600"/>
            </a:pPr>
            <a:r>
              <a:rPr lang="en-US" altLang="ko-KR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- </a:t>
            </a:r>
            <a:r>
              <a:rPr lang="ko-KR" altLang="en-US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모든 실질적 </a:t>
            </a:r>
            <a:r>
              <a:rPr lang="en-US" altLang="ko-KR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 </a:t>
            </a:r>
            <a:r>
              <a:rPr lang="ko-KR" altLang="en-US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연산은 해당 </a:t>
            </a:r>
            <a:r>
              <a:rPr lang="en-US" altLang="ko-KR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</a:t>
            </a:r>
            <a:r>
              <a:rPr lang="ko-KR" altLang="en-US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수행</a:t>
            </a:r>
            <a:endParaRPr lang="en-US" altLang="ko-KR" i="1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</a:pP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LSASS: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부팅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~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종료까지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권한으로 실행되는 보안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 (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마스터 키 평문 캐싱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이점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격리된 메모리 영역 사용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유출 가능성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Min)</a:t>
            </a:r>
          </a:p>
          <a:p>
            <a:pPr marL="360363" lvl="2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En/Decrypt try logging</a:t>
            </a:r>
          </a:p>
          <a:p>
            <a:pPr marL="360363" lvl="2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</a:t>
            </a:r>
            <a:r>
              <a:rPr lang="en-US" altLang="ko-KR" sz="1000" i="1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These local RPC calls never traverse the network</a:t>
            </a:r>
            <a:endParaRPr lang="en-US" altLang="ko-KR" i="1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Operation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9FA7E78-1F69-5E90-2177-1AD915B75D34}"/>
              </a:ext>
            </a:extLst>
          </p:cNvPr>
          <p:cNvCxnSpPr>
            <a:cxnSpLocks/>
          </p:cNvCxnSpPr>
          <p:nvPr/>
        </p:nvCxnSpPr>
        <p:spPr>
          <a:xfrm>
            <a:off x="781793" y="3709721"/>
            <a:ext cx="0" cy="1225685"/>
          </a:xfrm>
          <a:prstGeom prst="line">
            <a:avLst/>
          </a:prstGeom>
          <a:ln w="1905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34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F833383-2D0E-9DB0-7C29-3C56A778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1DA2490-1536-4774-846F-98C2F773E244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F5F9820-648F-0C54-2C8B-9B7B8A8177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Operation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59697F-9E53-855E-D55F-67C42F5532B8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9118B4-D38A-F85A-F3BF-C08FB9143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59" y="966285"/>
            <a:ext cx="5420481" cy="3696216"/>
          </a:xfrm>
          <a:prstGeom prst="rect">
            <a:avLst/>
          </a:prstGeom>
          <a:solidFill>
            <a:srgbClr val="FFFFFF">
              <a:shade val="85000"/>
            </a:srgbClr>
          </a:solidFill>
          <a:ln w="952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8208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 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 구조와 키 파생 원리</a:t>
            </a:r>
            <a:endParaRPr lang="en-US" altLang="ko-KR" sz="18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Hierachical Key (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계층적 키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lvl="2" algn="ctr">
              <a:buSzPts val="1600"/>
            </a:pPr>
            <a:br>
              <a:rPr lang="en-US" altLang="ko-KR" sz="4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사용자의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logon pw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기반으로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 Protect Key, MasterKey, SessionKey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차례로 파생된다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마스터 키를 암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복호화하는 키 파생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(MasterKey Protect Key)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사용자 평문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logon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비밀번호를 바탕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(+ USER_SID, etc. )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으로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SHA512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거친 후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Salt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**PBKDF2**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**Iterantion count**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만큼 반복해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보호하기 위한 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(Key-encrypting Key)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변환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LSASS Proc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내부에서 즉석 계산되어 저장되지 않고 사용됨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생성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저장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512bit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길이의 </a:t>
            </a:r>
            <a:r>
              <a:rPr lang="ko-KR" altLang="en-US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순수 무작위 데이터를 생성해 </a:t>
            </a: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MK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삼고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KeK</a:t>
            </a:r>
            <a:r>
              <a:rPr lang="ko-KR" altLang="en-US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암호화</a:t>
            </a: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90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 만료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Path: %USERPROFILE%\AppData\Roaming\Microsoft\Protect\&lt;SID&gt;\&lt;GUID&gt;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&gt;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조회해보니까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5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 정도 파일이 있음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만료된 마스터 키 포함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  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Preferred file: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가장 최신으로 사용되는 키에 대한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GUID </a:t>
            </a: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 Key 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유도</a:t>
            </a: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: 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앱 데이터 암호화 키 </a:t>
            </a: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일회성 동적 생성</a:t>
            </a: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조합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1. plaintext Master Key</a:t>
            </a:r>
            <a:b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조합 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Salt/Nonce (</a:t>
            </a: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나중에 복호화할 수 있도록 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 </a:t>
            </a: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내부에 같이 저장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조합 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Entropy(App </a:t>
            </a: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제공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같은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MK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여도 다른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SK.. 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암호학적 저항성🆙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Keys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3E2CCF9-0E3B-E5A8-02A9-BDA806E1E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23594" y="2571750"/>
            <a:ext cx="1367856" cy="1704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CD13F1-0EAD-A471-FE60-C56ED2A01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614" y="3704352"/>
            <a:ext cx="441082" cy="571911"/>
          </a:xfrm>
          <a:prstGeom prst="rect">
            <a:avLst/>
          </a:prstGeom>
        </p:spPr>
      </p:pic>
      <p:sp>
        <p:nvSpPr>
          <p:cNvPr id="8" name="설명선: 선 7">
            <a:extLst>
              <a:ext uri="{FF2B5EF4-FFF2-40B4-BE49-F238E27FC236}">
                <a16:creationId xmlns:a16="http://schemas.microsoft.com/office/drawing/2014/main" id="{7BBB7A9C-F213-F44A-CBFD-4DB2ED6634EF}"/>
              </a:ext>
            </a:extLst>
          </p:cNvPr>
          <p:cNvSpPr/>
          <p:nvPr/>
        </p:nvSpPr>
        <p:spPr>
          <a:xfrm>
            <a:off x="6491586" y="3667797"/>
            <a:ext cx="533400" cy="608884"/>
          </a:xfrm>
          <a:prstGeom prst="borderCallout1">
            <a:avLst>
              <a:gd name="adj1" fmla="val 18750"/>
              <a:gd name="adj2" fmla="val -8333"/>
              <a:gd name="adj3" fmla="val -34546"/>
              <a:gd name="adj4" fmla="val -289585"/>
            </a:avLst>
          </a:prstGeom>
          <a:noFill/>
          <a:ln w="9525">
            <a:solidFill>
              <a:srgbClr val="FF0000"/>
            </a:solidFill>
            <a:head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51DB250-9B92-B54A-2CC4-F7323B3CB6A5}"/>
              </a:ext>
            </a:extLst>
          </p:cNvPr>
          <p:cNvCxnSpPr>
            <a:cxnSpLocks/>
          </p:cNvCxnSpPr>
          <p:nvPr/>
        </p:nvCxnSpPr>
        <p:spPr>
          <a:xfrm>
            <a:off x="4672013" y="3631406"/>
            <a:ext cx="1864601" cy="549977"/>
          </a:xfrm>
          <a:prstGeom prst="straightConnector1">
            <a:avLst/>
          </a:prstGeom>
          <a:ln>
            <a:solidFill>
              <a:srgbClr val="33CC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6198B6-6FC3-68B8-DA72-38D023A52DB0}"/>
              </a:ext>
            </a:extLst>
          </p:cNvPr>
          <p:cNvSpPr txBox="1"/>
          <p:nvPr/>
        </p:nvSpPr>
        <p:spPr>
          <a:xfrm>
            <a:off x="388734" y="4914760"/>
            <a:ext cx="8238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Iteration count: HKLM\Software\Microsoft\Cryptography\Protect\Providers\%GUID%</a:t>
            </a:r>
            <a:r>
              <a:rPr lang="ko-KR" altLang="ko-KR" sz="800">
                <a:latin typeface="페이퍼로지 1 Thin" pitchFamily="2" charset="-127"/>
                <a:ea typeface="페이퍼로지 1 Thin" pitchFamily="2" charset="-127"/>
              </a:rPr>
              <a:t>에 명시된 값</a:t>
            </a:r>
            <a:endParaRPr lang="ko-KR" altLang="en-US" sz="800">
              <a:latin typeface="페이퍼로지 1 Thin" pitchFamily="2" charset="-127"/>
              <a:ea typeface="페이퍼로지 1 Thin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FC1BF8B-DDD9-48A6-43E1-CE4426A170D2}"/>
              </a:ext>
            </a:extLst>
          </p:cNvPr>
          <p:cNvCxnSpPr>
            <a:cxnSpLocks/>
          </p:cNvCxnSpPr>
          <p:nvPr/>
        </p:nvCxnSpPr>
        <p:spPr>
          <a:xfrm flipV="1">
            <a:off x="6977696" y="2571750"/>
            <a:ext cx="345898" cy="1152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7559429-FA48-20EE-203E-D9D8C316D5E6}"/>
              </a:ext>
            </a:extLst>
          </p:cNvPr>
          <p:cNvCxnSpPr/>
          <p:nvPr/>
        </p:nvCxnSpPr>
        <p:spPr>
          <a:xfrm>
            <a:off x="6977696" y="3795713"/>
            <a:ext cx="345898" cy="480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6F378C-B257-406C-10A4-342D22581889}"/>
              </a:ext>
            </a:extLst>
          </p:cNvPr>
          <p:cNvSpPr/>
          <p:nvPr/>
        </p:nvSpPr>
        <p:spPr>
          <a:xfrm>
            <a:off x="6610350" y="3709262"/>
            <a:ext cx="367346" cy="9820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8F5FA51-1A02-EFF2-3FB2-3E9C3CC3E596}"/>
              </a:ext>
            </a:extLst>
          </p:cNvPr>
          <p:cNvCxnSpPr>
            <a:cxnSpLocks/>
          </p:cNvCxnSpPr>
          <p:nvPr/>
        </p:nvCxnSpPr>
        <p:spPr>
          <a:xfrm>
            <a:off x="590263" y="1878595"/>
            <a:ext cx="0" cy="2897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52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MasterKey, SessionKey ??</a:t>
            </a:r>
          </a:p>
          <a:p>
            <a:pPr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CryptProtectData,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CryptUnprotectData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 호출 시</a:t>
            </a:r>
            <a:b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Data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하는 것이 아니라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실질적인 데이터 암호화 키는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SessionKey !!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Master Key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이용한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 Key(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일회용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: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매 요청마다 새로 동적 파생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lvl="2">
              <a:buSzPts val="1600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SessionKey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Salt, Entropy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필요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??</a:t>
            </a:r>
          </a:p>
          <a:p>
            <a:pPr marL="358775" lvl="2" indent="-18415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Salt: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데이터를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처음 암호화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할 때 내부적으로 무작위 생성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(Made in OS)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Salt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값은 결과물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(BLOB)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구조체 내부에 함께 저장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</a:p>
          <a:p>
            <a:pPr marL="631825" lvl="3" indent="-27305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Entropy: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추가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Salt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(Offerred by App)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pOptionalEntropy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함수 인자 형태 제공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Chrome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NULL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제공하지 않음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Keys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63D0022-7E1B-4446-4890-EC26A13BB082}"/>
              </a:ext>
            </a:extLst>
          </p:cNvPr>
          <p:cNvCxnSpPr>
            <a:cxnSpLocks/>
          </p:cNvCxnSpPr>
          <p:nvPr/>
        </p:nvCxnSpPr>
        <p:spPr>
          <a:xfrm>
            <a:off x="590263" y="2166151"/>
            <a:ext cx="0" cy="15713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94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Secrets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3038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브라우저에 저장되는 계정 정보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or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쿠키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3038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이메일 클라이언트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(Outlook, thunderbird)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등에서 사용되는 계정 정보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3038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공유 폴더와 자원들을 접근할 때 사용되는 계정 정보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3038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RDP,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원격 호스트들을 접근할 때 사용되는 계정 정보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3038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윈도우 자체내에서 제공하는 비밀 번호 금고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(Credential Vault)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등에 사용되는 암호화 키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3038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Encrypting File System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및 이메일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s-MIME, ADCS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유저 인증서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(Certificate)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등의 암호화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3" indent="-173038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...</a:t>
            </a:r>
          </a:p>
          <a:p>
            <a:pPr marL="182562" lvl="3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2" lvl="3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0975" lvl="3" indent="-180975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그냥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OS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내에서 암호화된 데이터나 암호화에 사용되는 대칭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비대칭 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(private key)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다시 암호화하는데 사용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654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Data BLOB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64A2991-E90C-8782-8D21-3C551906D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16530"/>
              </p:ext>
            </p:extLst>
          </p:nvPr>
        </p:nvGraphicFramePr>
        <p:xfrm>
          <a:off x="678366" y="2233953"/>
          <a:ext cx="7787268" cy="23723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732156">
                  <a:extLst>
                    <a:ext uri="{9D8B030D-6E8A-4147-A177-3AD203B41FA5}">
                      <a16:colId xmlns:a16="http://schemas.microsoft.com/office/drawing/2014/main" val="1659226281"/>
                    </a:ext>
                  </a:extLst>
                </a:gridCol>
                <a:gridCol w="3503895">
                  <a:extLst>
                    <a:ext uri="{9D8B030D-6E8A-4147-A177-3AD203B41FA5}">
                      <a16:colId xmlns:a16="http://schemas.microsoft.com/office/drawing/2014/main" val="1204625873"/>
                    </a:ext>
                  </a:extLst>
                </a:gridCol>
                <a:gridCol w="2551217">
                  <a:extLst>
                    <a:ext uri="{9D8B030D-6E8A-4147-A177-3AD203B41FA5}">
                      <a16:colId xmlns:a16="http://schemas.microsoft.com/office/drawing/2014/main" val="3041999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Field Name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Description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Note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06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Version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DPAPI BLOB ver info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Normally 1 or 2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90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Master Key GUID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MK Identifier used to encrypt data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Used to find the file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05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Salt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Rand</a:t>
                      </a:r>
                      <a:r>
                        <a:rPr lang="ko-KR" altLang="en-US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byte</a:t>
                      </a:r>
                      <a:r>
                        <a:rPr lang="ko-KR" altLang="en-US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for</a:t>
                      </a:r>
                      <a:r>
                        <a:rPr lang="ko-KR" altLang="en-US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SessionKey derivation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Unique for each BLOB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10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Ciphertext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real_ciphertext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AES or 3DES encryption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32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HMAC / MAC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Message Authentication Code</a:t>
                      </a:r>
                      <a:b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>
                          <a:latin typeface="페이퍼로지 4 Regular" pitchFamily="2" charset="-127"/>
                          <a:ea typeface="페이퍼로지 4 Regular" pitchFamily="2" charset="-127"/>
                        </a:rPr>
                        <a:t>(Data validate)</a:t>
                      </a:r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762794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C3B39B-FE5B-9BAE-F2C1-AACF0F4F5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981" y="966285"/>
            <a:ext cx="2345473" cy="10646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435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91911FB-1AD4-C747-FEB6-D370DF03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E972863-B6E2-A47F-67A9-47EA926E578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C209828-FFEA-6BE3-1970-7830CA975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D9B2C43-EB3B-DA07-87BC-99267218915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30340A-2134-2729-5489-455AF9CEE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49" y="966285"/>
            <a:ext cx="3685526" cy="37841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CD13C6-CB23-BC8B-F7B6-76BBF18C1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171" y="2906940"/>
            <a:ext cx="4161217" cy="1843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8C0CA3-AC30-F188-7900-829074E4D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171" y="966286"/>
            <a:ext cx="4161217" cy="17951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738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D089A96-7035-3C71-D6B3-701531F0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19C8532-95D6-2CA5-E45E-D00DA245D358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FAF0AFF-02AF-2F3C-546E-68C5C4BC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39302BB-96C6-E3E2-B3E8-183E1623BE39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89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12DE03F-43F1-7C0B-634C-4A712D8E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3739612-6577-E1FD-257C-859A3345AA22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3179DE8-5071-A161-AC6F-3572276C7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C111B26-6FBC-8650-B6E0-177835FFE91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39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63F6094-FE7B-E822-C679-2C1EA7E9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CF85A44-8859-3226-8301-69C17CDC0BFA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BF2DBB1-DB3C-9AEE-D28C-64D8A5D1E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55C8530-8E40-A430-410C-25D50B334C3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663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3F0B7B4-5EA1-DD79-96A2-D3E5867A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10A30C8-20DB-DFA3-F5A8-679B10A67988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59E1A3E-762B-341C-F2FD-A9929FC7B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89B0062-C5BA-A2CC-3CAA-F66DB2504FB1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363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3FD8199-21C6-71B1-DCAF-CE8B56799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45E6DB8-8926-2284-467E-B140375B763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06E3F5D-5B43-16F6-ECC6-BA194E5570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D9DB13-755E-26CB-7D31-FE9AB1CC112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04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15AD326-24EE-D676-3F5B-F4DAA6B1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80BFAFE-E584-351A-4A80-92BEB68F424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수행 주체 및 기반 아키텍처 매커니즘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단순한 방식이 아닌 커널 및 로컬 보안 하위 시스템과 긴밀하게 연동되는 아키텍처를 지니고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체계의 중심에는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LSASS(Local Security Authority Subsystem Service)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Domain Controller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존재한다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주요 함수 위치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CRPT32.DLL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이라는 시스템 동적 링크 라이브러리에 구현되어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라이브러리의 함수를 호출할 때 전체적 관리는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LSASS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수행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데이터를 암호화할 때마다 고유한 대칭키인 세션키를 임시 생성해 데이터를 처리하며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세션키는 어느 곳에도 영구저장되지 않는다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세션키를 안전하게 파생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(derive)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하기 위해 계정마다 할당된 마스터키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(Masterkey or Strong Key)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활용한다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마스터 키는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C:\Users\AppData\Roaming\Microsoft\Protect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내부의 숨김 폴더에 영구 보관된다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90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일 주기 만료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생성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But,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과거의 데이터를 복호화하기 위해 필요해서 보존하는 매커니즘을 따른다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마스터 키 자체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사용자 로그인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PW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기반으로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SHA1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알고리즘을 거치고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Salt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값을 연결한 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PBKDF2(Password-Based Key Derivation Function 2)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알고리즘을 지정된 반복 횟수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(iteration count)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만큼 수행해 도출한다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반복 횟수는 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HKLM\Software\Microsoft\Cryptography\Protect\Providers\%GUID%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 명시된 값에 따라 결정되며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저항성을 높이는 역할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(brute-force)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파생된 키를 통해 디스크에 암호화되어 있던 마스터키가 해독되고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해독된 마스터키가 궁극적으로 데이터를 암호화하거나 복호화하기 위한 세션 키를 생성하는 기반이 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시스템 계정의 경우는 사용자 비밀번호가 없으므로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레지스트리에 저장된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DPAPI_SYSTEM LSA Secret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값을 기반으로 마스터키 보호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사용자가 여러 프로세스를 한 번에 켜두고 작업하면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PBKDF2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작업에 비용이 많이 소모되므로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캐싱을 수행해 유지하는데 이는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LSASS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 내부에 평문으로 저장되어 시스템 접근 권한을 획득한 악용자가 메모리를 덤프해 탈취하는 원인이 될 수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9A44BD4-E9E7-DD38-B5B3-A7AC6FC27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o-KR" altLang="en-US"/>
              <a:t>순서 정리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78A51AD-ADBC-CA8F-8308-CC2BA683C342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306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CE02993-F828-064D-FFE8-A314E391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704D6DC-539B-4BB9-4813-9B52D9FA2A59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3"/>
              </a:rPr>
              <a:t>https://learn.microsoft.com/en-us/windows/win32/debug/pe-format#the-attribute-certificate-table-image-only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  <a:hlinkClick r:id="rId4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4"/>
              </a:rPr>
              <a:t>https://velog.io/@superkkj/AES-256-GCM-%EC%99%84%EC%A0%84-%EC%A0%95%EB%B3%B5-finger-basic-%EA%B0%9C%EC%9D%B8%EC%A0%95%EB%B3%B4-%EC%95%94%ED%98%B8%ED%99%94-%EC%A0%84%EC%B2%B4-%ED%9D%90%EB%A6%84-Encrypt-Decrypt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  <a:hlinkClick r:id="rId5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5"/>
              </a:rPr>
              <a:t>https://m.blog.naver.com/jvioonpe/221384924295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  <a:hlinkClick r:id="rId6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  <a:hlinkClick r:id="rId6"/>
              </a:rPr>
              <a:t>https://www.quora.com/Why-are-hash-functions-one-way-If-I-know-the-algorithm-why-cant-I-calculate-the-input-from-it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https://docs.oracle.com/cd/E19957-01/816-6167-10/jar.htm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7F089B1-BB41-3EF5-387B-4231DE78CA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페이퍼로지 6 SemiBold" pitchFamily="2" charset="-127"/>
                <a:ea typeface="페이퍼로지 6 SemiBold" pitchFamily="2" charset="-127"/>
              </a:rPr>
              <a:t>REF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A32B314-F667-50CF-618F-D546F312BEA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67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722</TotalTime>
  <Words>1638</Words>
  <Application>Microsoft Office PowerPoint</Application>
  <PresentationFormat>화면 슬라이드 쇼(16:9)</PresentationFormat>
  <Paragraphs>187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Arial</vt:lpstr>
      <vt:lpstr>맑은 고딕</vt:lpstr>
      <vt:lpstr>페이퍼로지 1 Thin</vt:lpstr>
      <vt:lpstr>페이퍼로지 4 Regular</vt:lpstr>
      <vt:lpstr>Montserrat Medium</vt:lpstr>
      <vt:lpstr>Montserrat</vt:lpstr>
      <vt:lpstr>페이퍼로지 6 SemiBold</vt:lpstr>
      <vt:lpstr>페이퍼로지 2 ExtraLight</vt:lpstr>
      <vt:lpstr>Energy Infographics by Slidesgo</vt:lpstr>
      <vt:lpstr>about.  DPAPI</vt:lpstr>
      <vt:lpstr>Overview</vt:lpstr>
      <vt:lpstr>Overview</vt:lpstr>
      <vt:lpstr>Overview</vt:lpstr>
      <vt:lpstr>Overview</vt:lpstr>
      <vt:lpstr>Operation</vt:lpstr>
      <vt:lpstr>Operation</vt:lpstr>
      <vt:lpstr>Keys</vt:lpstr>
      <vt:lpstr>Keys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순서 정리</vt:lpstr>
      <vt:lpstr>REF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285</cp:revision>
  <dcterms:created xsi:type="dcterms:W3CDTF">2026-02-25T09:00:40Z</dcterms:created>
  <dcterms:modified xsi:type="dcterms:W3CDTF">2026-03-30T11:29:14Z</dcterms:modified>
</cp:coreProperties>
</file>